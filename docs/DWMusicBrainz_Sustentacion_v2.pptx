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d8247c4-8d48-faec-8659-2bea8052a31f}">
          <p14:sldIdLst>
            <p14:sldId id="256"/>
            <p14:sldId id="257"/>
            <p14:sldId id="258"/>
          </p14:sldIdLst>
        </p14:section>
        <p14:section name="Requerimientos" id="{70b7e4e5-1d4a-9919-f8dc-e02b509b1d0a}">
          <p14:sldIdLst>
            <p14:sldId id="259"/>
            <p14:sldId id="260"/>
          </p14:sldIdLst>
        </p14:section>
        <p14:section name="Arquitectura" id="{39f1a844-a678-3549-f15c-afbeb7d65c3a}">
          <p14:sldIdLst>
            <p14:sldId id="261"/>
            <p14:sldId id="262"/>
            <p14:sldId id="263"/>
            <p14:sldId id="264"/>
          </p14:sldIdLst>
        </p14:section>
        <p14:section name="Modelo dimensional" id="{953a8c13-7b22-a84c-5380-c08af5c7ad5d}">
          <p14:sldIdLst>
            <p14:sldId id="265"/>
            <p14:sldId id="266"/>
            <p14:sldId id="267"/>
          </p14:sldIdLst>
        </p14:section>
        <p14:section name="ETL y calidad" id="{3aa8ffd9-765d-d11a-1e46-1511984c5b4b}">
          <p14:sldIdLst>
            <p14:sldId id="268"/>
            <p14:sldId id="269"/>
          </p14:sldIdLst>
        </p14:section>
        <p14:section name="Optimización y cierre" id="{d7ed35e9-ca53-4a13-42d6-c009af32559d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principal"/>
          <p:cNvSpPr/>
          <p:nvPr/>
        </p:nvSpPr>
        <p:spPr>
          <a:xfrm>
            <a:off x="548640" y="548640"/>
            <a:ext cx="7040880" cy="5760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3" name="Etiqueta"/>
          <p:cNvSpPr txBox="1"/>
          <p:nvPr/>
        </p:nvSpPr>
        <p:spPr>
          <a:xfrm>
            <a:off x="960120" y="868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BASES DE DATOS AVANZADAS</a:t>
            </a:r>
            <a:endParaRPr lang="en-US" sz="1100" dirty="0"/>
          </a:p>
        </p:txBody>
      </p:sp>
      <p:sp>
        <p:nvSpPr>
          <p:cNvPr id="4" name="Título"/>
          <p:cNvSpPr txBox="1"/>
          <p:nvPr/>
        </p:nvSpPr>
        <p:spPr>
          <a:xfrm>
            <a:off x="960120" y="128016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un Data Warehouse Analítico de Alta Volumetría para la Industria Musical Global (DWMusicBrainz)</a:t>
            </a:r>
            <a:endParaRPr lang="en-US" sz="3000" dirty="0"/>
          </a:p>
        </p:txBody>
      </p:sp>
      <p:sp>
        <p:nvSpPr>
          <p:cNvPr id="5" name="Subtítulo"/>
          <p:cNvSpPr txBox="1"/>
          <p:nvPr/>
        </p:nvSpPr>
        <p:spPr>
          <a:xfrm>
            <a:off x="960120" y="34290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Medallón (Silver 3NF → Gold Estrella Puro en Español) sobre PostgreSQL 16 en Docker y Explotación Analítica en Microsoft Power BI</a:t>
            </a:r>
            <a:endParaRPr lang="en-US" sz="1500" dirty="0"/>
          </a:p>
        </p:txBody>
      </p:sp>
      <p:sp>
        <p:nvSpPr>
          <p:cNvPr id="6" name="Panel autores"/>
          <p:cNvSpPr/>
          <p:nvPr/>
        </p:nvSpPr>
        <p:spPr>
          <a:xfrm>
            <a:off x="960120" y="4526280"/>
            <a:ext cx="6217920" cy="1417320"/>
          </a:xfrm>
          <a:prstGeom prst="roundRect">
            <a:avLst>
              <a:gd name="adj" fmla="val 7742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</p:spPr>
      </p:sp>
      <p:sp>
        <p:nvSpPr>
          <p:cNvPr id="7" name="Autores"/>
          <p:cNvSpPr txBox="1"/>
          <p:nvPr/>
        </p:nvSpPr>
        <p:spPr>
          <a:xfrm>
            <a:off x="1188720" y="463600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Juan Sebastián Rincón Farelo y equipo de Ingeniería de Datos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Ingeniería de Sistemas  —  5to Semestre Académico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Institución: Universidad Popular del Cesar (UPC)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Fecha: Valledupar, Cesar, Colombia  ·  Octubre de 2026</a:t>
            </a:r>
            <a:endParaRPr lang="en-US" sz="1250" dirty="0"/>
          </a:p>
        </p:txBody>
      </p:sp>
      <p:sp>
        <p:nvSpPr>
          <p:cNvPr id="8" name="Capa 1"/>
          <p:cNvSpPr/>
          <p:nvPr/>
        </p:nvSpPr>
        <p:spPr>
          <a:xfrm>
            <a:off x="7863840" y="548640"/>
            <a:ext cx="3776472" cy="1783080"/>
          </a:xfrm>
          <a:prstGeom prst="roundRect">
            <a:avLst>
              <a:gd name="adj" fmla="val 6667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Capa 1 texto"/>
          <p:cNvSpPr txBox="1"/>
          <p:nvPr/>
        </p:nvSpPr>
        <p:spPr>
          <a:xfrm>
            <a:off x="8915400" y="731520"/>
            <a:ext cx="25420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ORIGEN &amp; SILVER (3NF)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Datos Reales MusicBrainz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Volcado oficial mbdump.tar.bz2 (7,1 GB).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Sequence 31 (Octubre 2026).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datos sintéticos o ficticios.</a:t>
            </a:r>
            <a:endParaRPr lang="en-US" sz="1000" dirty="0"/>
          </a:p>
        </p:txBody>
      </p:sp>
      <p:sp>
        <p:nvSpPr>
          <p:cNvPr id="10" name="Círculo icono"/>
          <p:cNvSpPr/>
          <p:nvPr/>
        </p:nvSpPr>
        <p:spPr>
          <a:xfrm>
            <a:off x="8046720" y="749808"/>
            <a:ext cx="566928" cy="5669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1" name="Icono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452" y="891540"/>
            <a:ext cx="283464" cy="283464"/>
          </a:xfrm>
          <a:prstGeom prst="rect">
            <a:avLst/>
          </a:prstGeom>
        </p:spPr>
      </p:pic>
      <p:sp>
        <p:nvSpPr>
          <p:cNvPr id="12" name="Capa 2"/>
          <p:cNvSpPr/>
          <p:nvPr/>
        </p:nvSpPr>
        <p:spPr>
          <a:xfrm>
            <a:off x="7863840" y="2532888"/>
            <a:ext cx="3776472" cy="178308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Capa 2 texto"/>
          <p:cNvSpPr txBox="1"/>
          <p:nvPr/>
        </p:nvSpPr>
        <p:spPr>
          <a:xfrm>
            <a:off x="8915400" y="2715768"/>
            <a:ext cx="25420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GOLD (RALPH KIMBALL)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Estrella Puro en Español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 Conformadas (Patrón Key 0).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Histórico Diario: fact_produccion_musical.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Métricas Numéricas 100% Aditivas (SUM).</a:t>
            </a:r>
            <a:endParaRPr lang="en-US" sz="1000" dirty="0"/>
          </a:p>
        </p:txBody>
      </p:sp>
      <p:sp>
        <p:nvSpPr>
          <p:cNvPr id="14" name="Círculo icono"/>
          <p:cNvSpPr/>
          <p:nvPr/>
        </p:nvSpPr>
        <p:spPr>
          <a:xfrm>
            <a:off x="8046720" y="2734056"/>
            <a:ext cx="566928" cy="5669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5" name="Icono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452" y="2875788"/>
            <a:ext cx="283464" cy="283464"/>
          </a:xfrm>
          <a:prstGeom prst="rect">
            <a:avLst/>
          </a:prstGeom>
        </p:spPr>
      </p:pic>
      <p:sp>
        <p:nvSpPr>
          <p:cNvPr id="16" name="Capa 3"/>
          <p:cNvSpPr/>
          <p:nvPr/>
        </p:nvSpPr>
        <p:spPr>
          <a:xfrm>
            <a:off x="7863840" y="4517136"/>
            <a:ext cx="3776472" cy="1783080"/>
          </a:xfrm>
          <a:prstGeom prst="roundRect">
            <a:avLst>
              <a:gd name="adj" fmla="val 6667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Capa 3 texto"/>
          <p:cNvSpPr txBox="1"/>
          <p:nvPr/>
        </p:nvSpPr>
        <p:spPr>
          <a:xfrm>
            <a:off x="8915400" y="4700016"/>
            <a:ext cx="25420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DOCKER + POWER BI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Rendimiento &amp; Gobernanza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~89,3 M filas Silver | &gt; 14,5 GB en disco.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Particiones por fecha_key + 4 Vistas Mat.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en meta.etl_audit y data_quality_log.</a:t>
            </a:r>
            <a:endParaRPr lang="en-US" sz="1000" dirty="0"/>
          </a:p>
        </p:txBody>
      </p:sp>
      <p:sp>
        <p:nvSpPr>
          <p:cNvPr id="18" name="Círculo icono"/>
          <p:cNvSpPr/>
          <p:nvPr/>
        </p:nvSpPr>
        <p:spPr>
          <a:xfrm>
            <a:off x="8046720" y="4718304"/>
            <a:ext cx="566928" cy="5669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9" name="Icono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2" y="4860036"/>
            <a:ext cx="28346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02  ·  INTRODUCCIÓN Y PLANTEAMIENTO DEL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Base de Datos Transaccional (OLTP) al Data Warehouse (OLAP)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MusicBrainz en 3NF, el problema de usarlo para analítica y cómo nuestro DWH en estrella lo soluciona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2 de 16</a:t>
            </a:r>
            <a:endParaRPr lang="en-US" sz="1000" dirty="0"/>
          </a:p>
        </p:txBody>
      </p:sp>
      <p:sp>
        <p:nvSpPr>
          <p:cNvPr id="6" name="Columna 1"/>
          <p:cNvSpPr/>
          <p:nvPr/>
        </p:nvSpPr>
        <p:spPr>
          <a:xfrm>
            <a:off x="548640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Columna 1 texto"/>
          <p:cNvSpPr txBox="1"/>
          <p:nvPr/>
        </p:nvSpPr>
        <p:spPr>
          <a:xfrm>
            <a:off x="749808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 DE LA BD ORIGEN (OLTP)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MusicBrainz en 3ra Forma Normal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Enciclopedia musical global mantenida por la MetaBrainz Foundation (Schema Sequence 31).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transacciones operacionales (OLTP): inserciones y ediciones comunitarias ACID.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fragmentación relacional en 10 tablas normalizadas: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(120k), artist (3.01M), artist_credit_name (6.21M).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(5.84M), release_country (5.48M), release_unknown_country (215k).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(6.41M), recording (40.53M), track (15M), isrc (6.48M).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procesado en origen: ~89,3 millones de registros.</a:t>
            </a:r>
            <a:endParaRPr lang="en-US" sz="1000" dirty="0"/>
          </a:p>
        </p:txBody>
      </p:sp>
      <p:sp>
        <p:nvSpPr>
          <p:cNvPr id="8" name="Columna 2"/>
          <p:cNvSpPr/>
          <p:nvPr/>
        </p:nvSpPr>
        <p:spPr>
          <a:xfrm>
            <a:off x="4322064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Columna 2 texto"/>
          <p:cNvSpPr txBox="1"/>
          <p:nvPr/>
        </p:nvSpPr>
        <p:spPr>
          <a:xfrm>
            <a:off x="4523232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PROBLEMA DE USAR UN OLTP PARA BI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Cuello de Botella en Consultas Masivas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 de 8 a 10 JOINs por consulta: para relacionar una pista con su fecha real, país, formato y artista principal hay que cruzar decenas de millones de filas.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grano histórico consolidado: las tablas OLTP guardan entidades sueltas con flags booleanos y textos largos, no resúmenes históricos diarios.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 severa de I/O y RAM: calcular tendencias por década o cobertura ISRC sobre 40,5M de grabaciones y 15M de pistas en 3NF agota la memoria y tarda minutos.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Fan Traps: cruzar por nombres de áreas o múltiples ISRCs duplica conteos si no se pre-agrega.</a:t>
            </a:r>
            <a:endParaRPr lang="en-US" sz="1000" dirty="0"/>
          </a:p>
        </p:txBody>
      </p:sp>
      <p:sp>
        <p:nvSpPr>
          <p:cNvPr id="10" name="Columna 3"/>
          <p:cNvSpPr/>
          <p:nvPr/>
        </p:nvSpPr>
        <p:spPr>
          <a:xfrm>
            <a:off x="8095488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Columna 3 texto"/>
          <p:cNvSpPr txBox="1"/>
          <p:nvPr/>
        </p:nvSpPr>
        <p:spPr>
          <a:xfrm>
            <a:off x="8296656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CÓMO NUESTRO DWH OLAP LO SOLUCIONA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Estrella Pura Histórica en Español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Medallón (Silver → Gold): Silver limpia y tipa las 10 tablas 3NF; Gold consolida el modelo dimensional en español.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 Histórica Diaria (gold.fact_produccion_musical): agrupa por día (fecha_key) y las 5 dimensiones conformadas.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textos y cero booleanos en hechos: solo llaves foráneas enteras y 11 métricas numéricas 100% aditivas (SUM).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por rango en fecha_key (14 particiones) + 4 Vistas Materializadas: consultas en &lt; 0,10 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03  ·  FORMULACIÓN METODOLÓGICA DEL PROYECTO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Objetivos Específicos (Taxonomía de Bloom)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General corresponde al título del proyecto; los Objetivos Específicos se formulan con verbos de Bloom sin explicación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3 de 16</a:t>
            </a:r>
            <a:endParaRPr lang="en-US" sz="1000" dirty="0"/>
          </a:p>
        </p:txBody>
      </p:sp>
      <p:sp>
        <p:nvSpPr>
          <p:cNvPr id="6" name="Objetivo general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10000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Objetivo general texto"/>
          <p:cNvSpPr txBox="1"/>
          <p:nvPr/>
        </p:nvSpPr>
        <p:spPr>
          <a:xfrm>
            <a:off x="749808" y="1856232"/>
            <a:ext cx="10689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(ALINEADO AL TÍTULO DEL PROYECTO  ·  NIVEL CREAR / IMPLEMENTAR — 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Data Warehouse analítico de alta volumetría para la industria musical global (DWMusicBrainz) bajo arquitectura Medallón y modelo en estrella puro de Ralph Kimball en PostgreSQL 16.</a:t>
            </a:r>
            <a:endParaRPr lang="en-US" sz="1000" dirty="0"/>
          </a:p>
        </p:txBody>
      </p:sp>
      <p:sp>
        <p:nvSpPr>
          <p:cNvPr id="8" name="Objetivo específico 1"/>
          <p:cNvSpPr/>
          <p:nvPr/>
        </p:nvSpPr>
        <p:spPr>
          <a:xfrm>
            <a:off x="548640" y="306324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Objetivo específico 1 texto"/>
          <p:cNvSpPr txBox="1"/>
          <p:nvPr/>
        </p:nvSpPr>
        <p:spPr>
          <a:xfrm>
            <a:off x="749808" y="322783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1  ·  NIVEL APLICAR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los conjuntos de datos transaccionales reales del volcado oficial de MusicBrainz (Schema Sequence 31) hacia la capa de almacenamiento intermedio Silver en Tercera Forma Normal.</a:t>
            </a:r>
            <a:endParaRPr lang="en-US" sz="1000" dirty="0"/>
          </a:p>
        </p:txBody>
      </p:sp>
      <p:sp>
        <p:nvSpPr>
          <p:cNvPr id="10" name="Objetivo específico 2"/>
          <p:cNvSpPr/>
          <p:nvPr/>
        </p:nvSpPr>
        <p:spPr>
          <a:xfrm>
            <a:off x="4322064" y="306324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Objetivo específico 2 texto"/>
          <p:cNvSpPr txBox="1"/>
          <p:nvPr/>
        </p:nvSpPr>
        <p:spPr>
          <a:xfrm>
            <a:off x="4523232" y="322783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2  ·  NIVEL ANALIZAR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la calidad de los datos mediante la aplicación de diez reglas de limpieza, tipado nativo, resolución de fechas históricas reales y vinculación de créditos de autoría.</a:t>
            </a:r>
            <a:endParaRPr lang="en-US" sz="1000" dirty="0"/>
          </a:p>
        </p:txBody>
      </p:sp>
      <p:sp>
        <p:nvSpPr>
          <p:cNvPr id="12" name="Objetivo específico 3"/>
          <p:cNvSpPr/>
          <p:nvPr/>
        </p:nvSpPr>
        <p:spPr>
          <a:xfrm>
            <a:off x="8095488" y="306324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Objetivo específico 3 texto"/>
          <p:cNvSpPr txBox="1"/>
          <p:nvPr/>
        </p:nvSpPr>
        <p:spPr>
          <a:xfrm>
            <a:off x="8296656" y="322783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3  ·  NIVEL CREAR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dimensional en estrella puro en español conformado por seis dimensiones con claves subrogadas y una tabla de hechos histórica diaria con métricas aditivas.</a:t>
            </a:r>
            <a:endParaRPr lang="en-US" sz="1000" dirty="0"/>
          </a:p>
        </p:txBody>
      </p:sp>
      <p:sp>
        <p:nvSpPr>
          <p:cNvPr id="14" name="Objetivo específico 4"/>
          <p:cNvSpPr/>
          <p:nvPr/>
        </p:nvSpPr>
        <p:spPr>
          <a:xfrm>
            <a:off x="548640" y="470916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5" name="Objetivo específico 4 texto"/>
          <p:cNvSpPr txBox="1"/>
          <p:nvPr/>
        </p:nvSpPr>
        <p:spPr>
          <a:xfrm>
            <a:off x="749808" y="487375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4  ·  NIVEL APLICAR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pipeline automatizado de extracción, transformación y carga (ETL) mediante streaming en Python y sentencias SQL de agregación histórica por conjuntos.</a:t>
            </a:r>
            <a:endParaRPr lang="en-US" sz="1000" dirty="0"/>
          </a:p>
        </p:txBody>
      </p:sp>
      <p:sp>
        <p:nvSpPr>
          <p:cNvPr id="16" name="Objetivo específico 5"/>
          <p:cNvSpPr/>
          <p:nvPr/>
        </p:nvSpPr>
        <p:spPr>
          <a:xfrm>
            <a:off x="4322064" y="470916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Objetivo específico 5 texto"/>
          <p:cNvSpPr txBox="1"/>
          <p:nvPr/>
        </p:nvSpPr>
        <p:spPr>
          <a:xfrm>
            <a:off x="4523232" y="487375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5  ·  NIVEL EVALUAR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rendimiento de las consultas analíticas mediante particionamiento físico declarativo por rangos de fecha, indexación B-Tree y cuatro vistas materializadas.</a:t>
            </a:r>
            <a:endParaRPr lang="en-US" sz="1000" dirty="0"/>
          </a:p>
        </p:txBody>
      </p:sp>
      <p:sp>
        <p:nvSpPr>
          <p:cNvPr id="18" name="Objetivo específico 6"/>
          <p:cNvSpPr/>
          <p:nvPr/>
        </p:nvSpPr>
        <p:spPr>
          <a:xfrm>
            <a:off x="8095488" y="4709160"/>
            <a:ext cx="3544824" cy="1481328"/>
          </a:xfrm>
          <a:prstGeom prst="roundRect">
            <a:avLst>
              <a:gd name="adj" fmla="val 8025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9" name="Objetivo específico 6 texto"/>
          <p:cNvSpPr txBox="1"/>
          <p:nvPr/>
        </p:nvSpPr>
        <p:spPr>
          <a:xfrm>
            <a:off x="8296656" y="4873752"/>
            <a:ext cx="3142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6  ·  NIVEL EVALUAR (BLOOM)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integridad referencial de cero huérfanos, la volumetría física en disco y las métricas aditivas para su explotación visual mediante medidas DAX en Power BI.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04  ·  ESPECIFICACIÓN DE REQUERIMIENTOS ANALÍTICOS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Funcionales del Sistema (RF01 — RF08)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Alineados estrictamente con las vistas materializadas, dimensiones en español y métricas aditivas implementadas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4 de 16</a:t>
            </a:r>
            <a:endParaRPr lang="en-US" sz="1000" dirty="0"/>
          </a:p>
        </p:txBody>
      </p:sp>
      <p:sp>
        <p:nvSpPr>
          <p:cNvPr id="6" name="RF 1"/>
          <p:cNvSpPr/>
          <p:nvPr/>
        </p:nvSpPr>
        <p:spPr>
          <a:xfrm>
            <a:off x="548640" y="1691640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RF 1 texto"/>
          <p:cNvSpPr txBox="1"/>
          <p:nvPr/>
        </p:nvSpPr>
        <p:spPr>
          <a:xfrm>
            <a:off x="749808" y="1819656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· Ranking Top N de Catálogo y Producción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el ranking de artistas con mayor volumen de lanzamientos (SUM(lanzamientos_total)), pistas (SUM(pistas_total)), duración acumulada y cobertura ISRC por país y década.</a:t>
            </a:r>
            <a:endParaRPr lang="en-US" sz="1400" dirty="0"/>
          </a:p>
        </p:txBody>
      </p:sp>
      <p:sp>
        <p:nvSpPr>
          <p:cNvPr id="8" name="RF 2"/>
          <p:cNvSpPr/>
          <p:nvPr/>
        </p:nvSpPr>
        <p:spPr>
          <a:xfrm>
            <a:off x="6231636" y="1691640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RF 2 texto"/>
          <p:cNvSpPr txBox="1"/>
          <p:nvPr/>
        </p:nvSpPr>
        <p:spPr>
          <a:xfrm>
            <a:off x="6432804" y="1819656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 · Métricas por Formato e Idioma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duración promedio ponderada (SUM(duracion_total_segundos) / SUM(pistas_completas_total)) y el volumen de producción según formato (Vinilo, CD, Digital) e idioma (dim_idioma).</a:t>
            </a:r>
            <a:endParaRPr lang="en-US" sz="1400" dirty="0"/>
          </a:p>
        </p:txBody>
      </p:sp>
      <p:sp>
        <p:nvSpPr>
          <p:cNvPr id="10" name="RF 3"/>
          <p:cNvSpPr/>
          <p:nvPr/>
        </p:nvSpPr>
        <p:spPr>
          <a:xfrm>
            <a:off x="548640" y="2875788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RF 3 texto"/>
          <p:cNvSpPr txBox="1"/>
          <p:nvPr/>
        </p:nvSpPr>
        <p:spPr>
          <a:xfrm>
            <a:off x="749808" y="3003804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· Drill-Down Geográfico y Temporal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la navegación jerárquica geográfica (nombre_pais → tipo_area → nombre_area en dim_geografia) y temporal (siglo → decada → anio → trimestre → mes → dia en dim_fecha).</a:t>
            </a:r>
            <a:endParaRPr lang="en-US" sz="1400" dirty="0"/>
          </a:p>
        </p:txBody>
      </p:sp>
      <p:sp>
        <p:nvSpPr>
          <p:cNvPr id="12" name="RF 4"/>
          <p:cNvSpPr/>
          <p:nvPr/>
        </p:nvSpPr>
        <p:spPr>
          <a:xfrm>
            <a:off x="6231636" y="2875788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RF 4 texto"/>
          <p:cNvSpPr txBox="1"/>
          <p:nvPr/>
        </p:nvSpPr>
        <p:spPr>
          <a:xfrm>
            <a:off x="6432804" y="3003804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· Penetración Digital vs Físico y Pistas Largas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la transición entre soportes físicos y digitales en dim_formato y la proporción de canciones largas mayores a 5 minutos (SUM(pistas_largas_total) / SUM(pistas_total)).</a:t>
            </a:r>
            <a:endParaRPr lang="en-US" sz="1400" dirty="0"/>
          </a:p>
        </p:txBody>
      </p:sp>
      <p:sp>
        <p:nvSpPr>
          <p:cNvPr id="14" name="RF 5"/>
          <p:cNvSpPr/>
          <p:nvPr/>
        </p:nvSpPr>
        <p:spPr>
          <a:xfrm>
            <a:off x="548640" y="4059936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5" name="RF 5 texto"/>
          <p:cNvSpPr txBox="1"/>
          <p:nvPr/>
        </p:nvSpPr>
        <p:spPr>
          <a:xfrm>
            <a:off x="749808" y="4187952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 · Correlación Estadística Año vs Duración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matemáticamente la correlación de Pearson (corr()) entre el año histórico de publicación (anio) y la duración promedio para demostrar el acortamiento en la era del streaming.</a:t>
            </a:r>
            <a:endParaRPr lang="en-US" sz="1400" dirty="0"/>
          </a:p>
        </p:txBody>
      </p:sp>
      <p:sp>
        <p:nvSpPr>
          <p:cNvPr id="16" name="RF 6"/>
          <p:cNvSpPr/>
          <p:nvPr/>
        </p:nvSpPr>
        <p:spPr>
          <a:xfrm>
            <a:off x="6231636" y="4059936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RF 6 texto"/>
          <p:cNvSpPr txBox="1"/>
          <p:nvPr/>
        </p:nvSpPr>
        <p:spPr>
          <a:xfrm>
            <a:off x="6432804" y="4187952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 · Tasa de Formalización Fonográfica ISRC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el porcentaje de pistas registradas con código internacional ISRC (SUM(pistas_con_isrc_total) * 100 / SUM(pistas_total)) segmentado por país y tipo de artista.</a:t>
            </a:r>
            <a:endParaRPr lang="en-US" sz="1400" dirty="0"/>
          </a:p>
        </p:txBody>
      </p:sp>
      <p:sp>
        <p:nvSpPr>
          <p:cNvPr id="18" name="RF 7"/>
          <p:cNvSpPr/>
          <p:nvPr/>
        </p:nvSpPr>
        <p:spPr>
          <a:xfrm>
            <a:off x="548640" y="5244084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9" name="RF 7 texto"/>
          <p:cNvSpPr txBox="1"/>
          <p:nvPr/>
        </p:nvSpPr>
        <p:spPr>
          <a:xfrm>
            <a:off x="749808" y="5372100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 · Densidad de Pistas y Soportes por Lanzamiento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relación aditiva de pistas por lanzamiento (SUM(pistas_total) / SUM(lanzamientos_total)) y pistas por soporte (SUM(pistas_total) / SUM(soportes_total)) según el perfil de empaque.</a:t>
            </a:r>
            <a:endParaRPr lang="en-US" sz="1400" dirty="0"/>
          </a:p>
        </p:txBody>
      </p:sp>
      <p:sp>
        <p:nvSpPr>
          <p:cNvPr id="20" name="RF 8"/>
          <p:cNvSpPr/>
          <p:nvPr/>
        </p:nvSpPr>
        <p:spPr>
          <a:xfrm>
            <a:off x="6231636" y="5244084"/>
            <a:ext cx="5408676" cy="1046988"/>
          </a:xfrm>
          <a:prstGeom prst="roundRect">
            <a:avLst>
              <a:gd name="adj" fmla="val 11354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1" name="RF 8 texto"/>
          <p:cNvSpPr txBox="1"/>
          <p:nvPr/>
        </p:nvSpPr>
        <p:spPr>
          <a:xfrm>
            <a:off x="6432804" y="5372100"/>
            <a:ext cx="50063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 · Detección de Catálogo y Artistas Emergentes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artistas debutantes en la última década (anio_inicio &gt;= 2015 en dim_artista) con mayor producción acumulada y 100% de formalización ISRC.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05  ·  CALIDAD, RENDIMIENTO Y ESTRÉS FÍSICO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No Funcionales del Proyecto (RNF01 — RNF09)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técnicos verificados mediante los scripts del repositorio (ingest_tracks_sliced.py, run_gold_pipeline.py, verify_dwh.py)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5 de 16</a:t>
            </a:r>
            <a:endParaRPr lang="en-US" sz="1000" dirty="0"/>
          </a:p>
        </p:txBody>
      </p:sp>
      <p:graphicFrame>
        <p:nvGraphicFramePr>
          <p:cNvPr id="6" name="Tabla RN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874520"/>
                <a:gridCol w="3246120"/>
                <a:gridCol w="3822192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Técnico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Exigido en el Proyecto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Real en DWMusicBrainz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 por Streaming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por bloques sin desbordar la memoria RAM del host.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MaxLineReader con buffer de 128 KB hacia COPY FROM STDIN.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Huella Física en Disco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 físico en PostgreSQL superior a 3,0 GB.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14,5 GB consolidados en disco entre capas Silver, Gold y Meta.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Volumetría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 más de 10 millones de registros musicales reales.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~89,3 M de filas en Silver (10 tablas) y 15 M de pistas agregadas en Gold.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Datos Sintéticos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Prohibición absoluta de datos simulados o generados al azar.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extraído del dump oficial mbdump.tar.bz2 (Schema Sequence 31).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Idempotencia ETL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Re-ejecución limpia del pipeline sin duplicar registros.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RESTART IDENTITY CASCADE y ON CONFLICT DO UPDATE.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y Linaje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Bitácora automática de lotes, filas, tiempos y reglas de calidad.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meta.etl_audit y meta.data_quality_log pobladas en Python.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de Consultas OLAP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respuesta inferior a 3,0 segundos en agregaciones.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0,10 segundos mediante Partition Pruning y 4 Vistas Materializadas.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4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Referencial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registros huérfanos entre la tabla de hechos y dimensiones.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Patrón Fila Cero (Key 0) en las 6 dimensiones + COALESCE(key, 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5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HUÉRFANOS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F4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 y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aislada y reproducible con memoria optimizada.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(postgres:16, puerto 5435, shared_buffers=1GB, shm=1gb).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06  ·  DISEÑO ARQUITECTÓNICO DEL SISTEMA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Medallón Implementada (Raw → Silver → Gold + Meta)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física y lógica en esquemas de PostgreSQL 16 para garantizar trazabilidad, limpieza 3NF y modelo estrella puro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6 de 16</a:t>
            </a:r>
            <a:endParaRPr lang="en-US" sz="1000" dirty="0"/>
          </a:p>
        </p:txBody>
      </p:sp>
      <p:sp>
        <p:nvSpPr>
          <p:cNvPr id="6" name="Capa 1"/>
          <p:cNvSpPr/>
          <p:nvPr/>
        </p:nvSpPr>
        <p:spPr>
          <a:xfrm>
            <a:off x="548640" y="1691640"/>
            <a:ext cx="2567178" cy="3429000"/>
          </a:xfrm>
          <a:prstGeom prst="roundRect">
            <a:avLst>
              <a:gd name="adj" fmla="val 4630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Capa 1 texto"/>
          <p:cNvSpPr txBox="1"/>
          <p:nvPr/>
        </p:nvSpPr>
        <p:spPr>
          <a:xfrm>
            <a:off x="749808" y="2514600"/>
            <a:ext cx="216484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ORIGEN (BRONZE / RAW)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Volcado Oficial TSV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maestro: mbdump.tar.bz2 (7,1 GB comprimido).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quirúrgica bajo demanda hacia data/raw/mbdump/.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archivos TSV planos sin encabezados y con nulos representados como \N.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verificados: SCHEMA_SEQUENCE = 31.</a:t>
            </a:r>
            <a:endParaRPr lang="en-US" sz="1000" dirty="0"/>
          </a:p>
        </p:txBody>
      </p:sp>
      <p:sp>
        <p:nvSpPr>
          <p:cNvPr id="8" name="Círculo icono"/>
          <p:cNvSpPr/>
          <p:nvPr/>
        </p:nvSpPr>
        <p:spPr>
          <a:xfrm>
            <a:off x="731520" y="1837944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9" name="Icono" descr="FaFileArch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52244"/>
            <a:ext cx="228600" cy="228600"/>
          </a:xfrm>
          <a:prstGeom prst="rect">
            <a:avLst/>
          </a:prstGeom>
        </p:spPr>
      </p:pic>
      <p:sp>
        <p:nvSpPr>
          <p:cNvPr id="10" name="Flecha"/>
          <p:cNvSpPr/>
          <p:nvPr/>
        </p:nvSpPr>
        <p:spPr>
          <a:xfrm>
            <a:off x="3152394" y="3278124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11" name="Capa 2"/>
          <p:cNvSpPr/>
          <p:nvPr/>
        </p:nvSpPr>
        <p:spPr>
          <a:xfrm>
            <a:off x="3390138" y="1691640"/>
            <a:ext cx="2567178" cy="3429000"/>
          </a:xfrm>
          <a:prstGeom prst="roundRect">
            <a:avLst>
              <a:gd name="adj" fmla="val 4630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2" name="Capa 2 texto"/>
          <p:cNvSpPr txBox="1"/>
          <p:nvPr/>
        </p:nvSpPr>
        <p:spPr>
          <a:xfrm>
            <a:off x="3591306" y="2514600"/>
            <a:ext cx="216484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CAPA PLATA (ESQUEMA silver)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Relacional 3NF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 normalizadas en 3NF (~89,3 M de filas).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fuerte nativo (INTEGER, SMALLINT, UUID, BOOLEAN, TIMESTAMPTZ).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tipo TEXT (TOAST) para soportar títulos de &gt; 2.000 caracteres.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release_country y artist_credit_name.</a:t>
            </a:r>
            <a:endParaRPr lang="en-US" sz="1000" dirty="0"/>
          </a:p>
        </p:txBody>
      </p:sp>
      <p:sp>
        <p:nvSpPr>
          <p:cNvPr id="13" name="Círculo icono"/>
          <p:cNvSpPr/>
          <p:nvPr/>
        </p:nvSpPr>
        <p:spPr>
          <a:xfrm>
            <a:off x="3573018" y="1837944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4" name="Icono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952244"/>
            <a:ext cx="228600" cy="228600"/>
          </a:xfrm>
          <a:prstGeom prst="rect">
            <a:avLst/>
          </a:prstGeom>
        </p:spPr>
      </p:pic>
      <p:sp>
        <p:nvSpPr>
          <p:cNvPr id="15" name="Flecha"/>
          <p:cNvSpPr/>
          <p:nvPr/>
        </p:nvSpPr>
        <p:spPr>
          <a:xfrm>
            <a:off x="5993892" y="3278124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16" name="Capa 3"/>
          <p:cNvSpPr/>
          <p:nvPr/>
        </p:nvSpPr>
        <p:spPr>
          <a:xfrm>
            <a:off x="6231636" y="1691640"/>
            <a:ext cx="2567178" cy="3429000"/>
          </a:xfrm>
          <a:prstGeom prst="roundRect">
            <a:avLst>
              <a:gd name="adj" fmla="val 4630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Capa 3 texto"/>
          <p:cNvSpPr txBox="1"/>
          <p:nvPr/>
        </p:nvSpPr>
        <p:spPr>
          <a:xfrm>
            <a:off x="6432804" y="2514600"/>
            <a:ext cx="216484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CAPA ORO (ESQUEMA gold)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Estrella Pura en Español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 Conformadas en español con Surrogate Keys y Fila Cero (Key 0).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Tabla de Hechos Histórica Diaria (fact_produccion_musical) particionada por fecha_key.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FKs y 11 métricas numéricas 100% aditivas.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Vistas Materializadas indexadas.</a:t>
            </a:r>
            <a:endParaRPr lang="en-US" sz="1000" dirty="0"/>
          </a:p>
        </p:txBody>
      </p:sp>
      <p:sp>
        <p:nvSpPr>
          <p:cNvPr id="18" name="Círculo icono"/>
          <p:cNvSpPr/>
          <p:nvPr/>
        </p:nvSpPr>
        <p:spPr>
          <a:xfrm>
            <a:off x="6414516" y="1837944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9" name="Icono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52244"/>
            <a:ext cx="228600" cy="228600"/>
          </a:xfrm>
          <a:prstGeom prst="rect">
            <a:avLst/>
          </a:prstGeom>
        </p:spPr>
      </p:pic>
      <p:sp>
        <p:nvSpPr>
          <p:cNvPr id="20" name="Flecha"/>
          <p:cNvSpPr/>
          <p:nvPr/>
        </p:nvSpPr>
        <p:spPr>
          <a:xfrm>
            <a:off x="8835390" y="3278124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21" name="Capa 4"/>
          <p:cNvSpPr/>
          <p:nvPr/>
        </p:nvSpPr>
        <p:spPr>
          <a:xfrm>
            <a:off x="9073134" y="1691640"/>
            <a:ext cx="2567178" cy="3429000"/>
          </a:xfrm>
          <a:prstGeom prst="roundRect">
            <a:avLst>
              <a:gd name="adj" fmla="val 4630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2" name="Capa 4 texto"/>
          <p:cNvSpPr txBox="1"/>
          <p:nvPr/>
        </p:nvSpPr>
        <p:spPr>
          <a:xfrm>
            <a:off x="9274302" y="2514600"/>
            <a:ext cx="216484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CONSUMO BI (POWER BI)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&amp; Medidas DAX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localhost:5435 (esquema gold).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1:* unidireccionales desde las 6 dimensiones hacia el hecho.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DAX basadas en SUM() directo sobre métricas aditivas.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los requerimientos RF01 a RF08.</a:t>
            </a:r>
            <a:endParaRPr lang="en-US" sz="1000" dirty="0"/>
          </a:p>
        </p:txBody>
      </p:sp>
      <p:sp>
        <p:nvSpPr>
          <p:cNvPr id="23" name="Círculo icono"/>
          <p:cNvSpPr/>
          <p:nvPr/>
        </p:nvSpPr>
        <p:spPr>
          <a:xfrm>
            <a:off x="9256014" y="1837944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4" name="Icono" descr="FaChartPi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952244"/>
            <a:ext cx="228600" cy="228600"/>
          </a:xfrm>
          <a:prstGeom prst="rect">
            <a:avLst/>
          </a:prstGeom>
        </p:spPr>
      </p:pic>
      <p:sp>
        <p:nvSpPr>
          <p:cNvPr id="25" name="Gobernanza"/>
          <p:cNvSpPr/>
          <p:nvPr/>
        </p:nvSpPr>
        <p:spPr>
          <a:xfrm>
            <a:off x="548640" y="5303520"/>
            <a:ext cx="11091672" cy="987552"/>
          </a:xfrm>
          <a:prstGeom prst="roundRect">
            <a:avLst>
              <a:gd name="adj" fmla="val 12037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6" name="Gobernanza texto"/>
          <p:cNvSpPr txBox="1"/>
          <p:nvPr/>
        </p:nvSpPr>
        <p:spPr>
          <a:xfrm>
            <a:off x="749808" y="5413248"/>
            <a:ext cx="10689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TRANSVERSAL DE GOBERNANZA Y AUDITORÍA  ·  ESQUEMA meta (sql/meta/01_schema_meta.sql)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Contable de Lotes (meta.etl_audit) y Certificación de Calidad (meta.data_quality_log)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ejecución por capa (RAW_TO_SILVER, SILVER_TO_GOLD), tabla destino, operación (BULK_COPY, HISTORICAL_AGGREGATION), filas leídas/insertadas, duración en segundos y pruebas automáticas de 0 huérfanos.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07  ·  ORGANIZACIÓN DEL EQUIPO Y RESPONSABILIDADES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en Cada Etapa del Proyecto y sus Actividades Específicas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actividades para los 3 roles oficiales: Ingeniero de Datos, Modelador y Analista de BI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7 de 16</a:t>
            </a:r>
            <a:endParaRPr lang="en-US" sz="1000" dirty="0"/>
          </a:p>
        </p:txBody>
      </p:sp>
      <p:graphicFrame>
        <p:nvGraphicFramePr>
          <p:cNvPr id="8" name="Tabla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255264"/>
                <a:gridCol w="3255264"/>
                <a:gridCol w="32552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del 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1: Infraestructura e Ingesta (Raw → Silver)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2: Transformación y Calidad (Silver → Gold)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3: Optimización y Explotación (Gold → Power BI)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Ingeniero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(Data Engineer)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el contenedor Docker con PostgreSQL 16 (puerto 5435) y tuning de memoria (shared_buffers=1GB, shm_size=1gb).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Desarrollar ingest_silver.py para extraer bajo demanda los 10 TSV desde mbdump.tar.bz2.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MaxLineReader (buffer 128 KB) en ingest_tracks_sliced.py para cargar 15M de pistas vía COPY sin saturar RAM.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Codificar las reglas de limpieza EDA (E01 a E10) en SQL set-based (utf-8-sig, TEXT TOAST, deduplicación ISRC).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el orquestador run_gold_pipeline.py con registro transaccional en meta.etl_audit.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Automatizar las 7 pruebas de calidad en meta.data_quality_log.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Ejecutar el refresco de las 4 vistas materializadas (REFRESH MATERIALIZED VIEW).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Auditar la huella física en disco (&gt; 14,5 GB) y tiempos de ejecución con scripts/verify_dwh.py.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Modelador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(Dimensional Modeler)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Analizar el modelo relacional 3NF de MusicBrainz (Schema Sequence 31).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la necesidad de incluir release_country, release_unknown_country y artist_credit_name en Silver para no perder fechas reales ni autoría.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el Grano Histórico Diario de la tabla de hechos gold.fact_produccion_musical.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Diseñar las 6 dimensiones conformadas en español (dim_fecha, dim_artista, dim_lanzamiento, dim_geografia, dim_formato, dim_idioma) con Surrogate Keys y Fila Cero (Key 0).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textos y booleanos del hecho, definiendo las 11 métricas aditivas.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Diseñar las 14 particiones físicas por rango en fecha_key (04_indexes_partitions.sql) y los índices B-Tree.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Certificar el cumplimiento de Cero Huérfanos y la eliminación de Fan Traps (JOIN por area_id).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25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Analista de 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25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(BI Analyst)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las preguntas de negocio de la industria musical y traducirlas en los requerimientos funcionales RF01 a RF08.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Establecer los umbrales de SLA (&lt; 3,0 s) para los tableros.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Especificar las jerarquías analíticas de navegación Drill-Down: temporal (Siglo &gt; Década &gt; Año &gt; Mes &gt; Día) y geográfica (País &gt; Tipo de Área &gt; Área).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las categorías comerciales de dim_formato y los perfiles de dim_lanzamiento.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Diseñar las 4 vistas materializadas analíticas (05_aggregations.sql).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marL="165100" indent="-1651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Programar el catálogo de medidas DAX 100% aditivas (SUM) en Power BI (POWER_BI_MEASURES.md) y elaborar el storytelling de hallazgos (correlación Pearson, transición digital e ISRC).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45720" marB="45720" anchor="t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08  ·  STACK TECNOLÓGICO E INFRAESTRUCTURA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Implementadas y Justificación Técnica de su Uso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herramienta responde a una necesidad arquitectónica específica de rendimiento, aislamiento o explotación OLAP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8 de 16</a:t>
            </a:r>
            <a:endParaRPr lang="en-US" sz="1000" dirty="0"/>
          </a:p>
        </p:txBody>
      </p:sp>
      <p:sp>
        <p:nvSpPr>
          <p:cNvPr id="6" name="Herramienta 1"/>
          <p:cNvSpPr/>
          <p:nvPr/>
        </p:nvSpPr>
        <p:spPr>
          <a:xfrm>
            <a:off x="548640" y="1691640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Herramienta 1 texto"/>
          <p:cNvSpPr txBox="1"/>
          <p:nvPr/>
        </p:nvSpPr>
        <p:spPr>
          <a:xfrm>
            <a:off x="2011680" y="1819656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(Motor DWH)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Soporte nativo de Particionamiento Declarativo por Rango (fecha_key) con Partition Pruning.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ultrarrápida vía protocolo COPY FROM STDIN (&gt; 130.000 filas/seg) y tipo TEXT con compresión TOAST.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Vistas Materializadas indexadas y paralelismo.</a:t>
            </a:r>
            <a:endParaRPr lang="en-US" sz="1250" dirty="0"/>
          </a:p>
        </p:txBody>
      </p:sp>
      <p:sp>
        <p:nvSpPr>
          <p:cNvPr id="8" name="Marco logo"/>
          <p:cNvSpPr/>
          <p:nvPr/>
        </p:nvSpPr>
        <p:spPr>
          <a:xfrm>
            <a:off x="731520" y="1956816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9" name="Logo" descr="Logo PostgreSQL 16 (Motor DWH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48256"/>
            <a:ext cx="731520" cy="731520"/>
          </a:xfrm>
          <a:prstGeom prst="rect">
            <a:avLst/>
          </a:prstGeom>
        </p:spPr>
      </p:pic>
      <p:sp>
        <p:nvSpPr>
          <p:cNvPr id="10" name="Herramienta 2"/>
          <p:cNvSpPr/>
          <p:nvPr/>
        </p:nvSpPr>
        <p:spPr>
          <a:xfrm>
            <a:off x="6231636" y="1691640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Herramienta 2 texto"/>
          <p:cNvSpPr txBox="1"/>
          <p:nvPr/>
        </p:nvSpPr>
        <p:spPr>
          <a:xfrm>
            <a:off x="7694676" y="1819656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 v2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Garantiza portabilidad y aislamiento en el puerto 5435 sin contaminar el sistema operativo host.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configurar shm_size: 1gb para evitar fallos de Dynamic Shared Memory al agrupar millones de filas.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asegurada en el volumen mb_pgdata.</a:t>
            </a:r>
            <a:endParaRPr lang="en-US" sz="1250" dirty="0"/>
          </a:p>
        </p:txBody>
      </p:sp>
      <p:sp>
        <p:nvSpPr>
          <p:cNvPr id="12" name="Marco logo"/>
          <p:cNvSpPr/>
          <p:nvPr/>
        </p:nvSpPr>
        <p:spPr>
          <a:xfrm>
            <a:off x="6414516" y="1956816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3" name="Logo" descr="Logo Docker &amp; Docker Compose v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2048256"/>
            <a:ext cx="731520" cy="731520"/>
          </a:xfrm>
          <a:prstGeom prst="rect">
            <a:avLst/>
          </a:prstGeom>
        </p:spPr>
      </p:pic>
      <p:sp>
        <p:nvSpPr>
          <p:cNvPr id="14" name="Herramienta 3"/>
          <p:cNvSpPr/>
          <p:nvPr/>
        </p:nvSpPr>
        <p:spPr>
          <a:xfrm>
            <a:off x="548640" y="3227832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5" name="Herramienta 3 texto"/>
          <p:cNvSpPr txBox="1"/>
          <p:nvPr/>
        </p:nvSpPr>
        <p:spPr>
          <a:xfrm>
            <a:off x="2011680" y="3355848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 (Orquestador ETL)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Orquestación directa y liviana sin la sobrecarga de memoria de una JVM (Spark/Hadoop).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implementar la clase MaxLineReader con buffer de 128 KB para filtrar 15M de pistas en flujo continuo.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la extracción desde mbdump.tar.bz2.</a:t>
            </a:r>
            <a:endParaRPr lang="en-US" sz="1250" dirty="0"/>
          </a:p>
        </p:txBody>
      </p:sp>
      <p:sp>
        <p:nvSpPr>
          <p:cNvPr id="16" name="Marco logo"/>
          <p:cNvSpPr/>
          <p:nvPr/>
        </p:nvSpPr>
        <p:spPr>
          <a:xfrm>
            <a:off x="731520" y="349300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7" name="Logo" descr="Logo Python 3.12+ (Orquestador ETL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84448"/>
            <a:ext cx="731520" cy="731520"/>
          </a:xfrm>
          <a:prstGeom prst="rect">
            <a:avLst/>
          </a:prstGeom>
        </p:spPr>
      </p:pic>
      <p:sp>
        <p:nvSpPr>
          <p:cNvPr id="18" name="Herramienta 4"/>
          <p:cNvSpPr/>
          <p:nvPr/>
        </p:nvSpPr>
        <p:spPr>
          <a:xfrm>
            <a:off x="6231636" y="3227832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9" name="Herramienta 4 texto"/>
          <p:cNvSpPr txBox="1"/>
          <p:nvPr/>
        </p:nvSpPr>
        <p:spPr>
          <a:xfrm>
            <a:off x="7694676" y="3355848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 (Driver C libpq)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Driver compilado en C que expone el método copy_expert() sobre la API nativa libpq.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Transfiere bloques de datos desde Python hacia el heap de PostgreSQL sin pasar por cursores INSERT fila a fila.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transaccional de auditoría en meta.etl_audit.</a:t>
            </a:r>
            <a:endParaRPr lang="en-US" sz="1250" dirty="0"/>
          </a:p>
        </p:txBody>
      </p:sp>
      <p:sp>
        <p:nvSpPr>
          <p:cNvPr id="20" name="Marco logo"/>
          <p:cNvSpPr/>
          <p:nvPr/>
        </p:nvSpPr>
        <p:spPr>
          <a:xfrm>
            <a:off x="6414516" y="349300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1" name="Logo" descr="Logo psycopg2-binary (Driver C libpq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3584448"/>
            <a:ext cx="731520" cy="731520"/>
          </a:xfrm>
          <a:prstGeom prst="rect">
            <a:avLst/>
          </a:prstGeom>
        </p:spPr>
      </p:pic>
      <p:sp>
        <p:nvSpPr>
          <p:cNvPr id="22" name="Herramienta 5"/>
          <p:cNvSpPr/>
          <p:nvPr/>
        </p:nvSpPr>
        <p:spPr>
          <a:xfrm>
            <a:off x="548640" y="4764024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3" name="Herramienta 5 texto"/>
          <p:cNvSpPr txBox="1"/>
          <p:nvPr/>
        </p:nvSpPr>
        <p:spPr>
          <a:xfrm>
            <a:off x="2011680" y="4892040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(DAX)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Su motor columnar in-memory VertiPaq comprime de forma óptima los modelos en estrella puros.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las relaciones 1:* en español y evalúa todas las métricas mediante funciones SUM() de alta velocidad.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navegación Drill-Down y correlación Pearson.</a:t>
            </a:r>
            <a:endParaRPr lang="en-US" sz="1250" dirty="0"/>
          </a:p>
        </p:txBody>
      </p:sp>
      <p:sp>
        <p:nvSpPr>
          <p:cNvPr id="24" name="Marco logo"/>
          <p:cNvSpPr/>
          <p:nvPr/>
        </p:nvSpPr>
        <p:spPr>
          <a:xfrm>
            <a:off x="731520" y="50292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5" name="Logo" descr="Logo Microsoft Power BI Desktop (DAX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0640"/>
            <a:ext cx="731520" cy="731520"/>
          </a:xfrm>
          <a:prstGeom prst="rect">
            <a:avLst/>
          </a:prstGeom>
        </p:spPr>
      </p:pic>
      <p:sp>
        <p:nvSpPr>
          <p:cNvPr id="26" name="Herramienta 6"/>
          <p:cNvSpPr/>
          <p:nvPr/>
        </p:nvSpPr>
        <p:spPr>
          <a:xfrm>
            <a:off x="6231636" y="4764024"/>
            <a:ext cx="5408676" cy="1444752"/>
          </a:xfrm>
          <a:prstGeom prst="roundRect">
            <a:avLst>
              <a:gd name="adj" fmla="val 8228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7" name="Herramienta 6 texto"/>
          <p:cNvSpPr txBox="1"/>
          <p:nvPr/>
        </p:nvSpPr>
        <p:spPr>
          <a:xfrm>
            <a:off x="7694676" y="4892040"/>
            <a:ext cx="37444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DBeaver, psql &amp; Git / GitHub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usó?: DBeaver y psql permiten inspeccionar los planes físicos EXPLAIN ANALYZE y verificar el Partition Pruning.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 aseguran control de versiones bajo Conventional Commits y trazabilidad del código SQL/Python.</a:t>
            </a:r>
            <a:endParaRPr lang="en-US" sz="12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genera la documentación editorial en PDF.</a:t>
            </a:r>
            <a:endParaRPr lang="en-US" sz="1250" dirty="0"/>
          </a:p>
        </p:txBody>
      </p:sp>
      <p:sp>
        <p:nvSpPr>
          <p:cNvPr id="28" name="Marco logo"/>
          <p:cNvSpPr/>
          <p:nvPr/>
        </p:nvSpPr>
        <p:spPr>
          <a:xfrm>
            <a:off x="6414516" y="50292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9" name="Logo" descr="Logo DBeaver, psql &amp; Git / GitHu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5120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09  ·  MÉTRICAS DE ESCALA Y ALMACENAMIENTO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Volumetría Oficial por Capa y Dimensionamiento en Disco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las 10 tablas de la capa Silver (~89,3 M de filas) y las entidades del Modelo Estrella en Gold (&gt; 14,5 GB)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9 de 16</a:t>
            </a:r>
            <a:endParaRPr lang="en-US" sz="1000" dirty="0"/>
          </a:p>
        </p:txBody>
      </p:sp>
      <p:graphicFrame>
        <p:nvGraphicFramePr>
          <p:cNvPr id="10" name="Silv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874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Capa Silver (3NF)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Reales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 en el DWH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silver.recording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40.532.448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Grabación maestra (duración y video)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1.967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 en soporte (base de agregación)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silver.isrc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6.478.709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795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internacional ISRC por grabación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6.411.799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986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físico/digital y formato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silver.artist_credit_name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~6.210.000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Vínculo exacto a artist.id (position=0)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5.844.569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Lanzamiento (estado, empaque, idioma)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silver.release_country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~5.480.000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histórica real (año/mes/día) y país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silver.artist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3.010.451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Músicos solistas, bandas y orquestas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silver.release_unknown_country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histórica real sin país asignado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silver.area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Países, regiones y ciudades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CAPA SILVER (10 Tablas)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~89.303.083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~11.189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Relacional Completo 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ol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309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14400"/>
                <a:gridCol w="777240"/>
                <a:gridCol w="1856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Capa Gold (Español)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/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 / Rol Dimensional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gold.fact_produccion_musical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~4,5M – 5,8M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~2.450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 diario (consolida 15M pistas)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gold.dim_artista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3.010.452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Artistas únicos + Key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gold.dim_geografia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geográficas y países + Key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gold.dim_fecha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Calendario diario 1900–2030 + Key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gold.dim_idioma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Idiomas ISO 639-3 + Key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gold.dim_lanzamiento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Perfiles (Estado + Empaque + Calidad)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gold.dim_formato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Formatos y categoría física/digital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gold.mv_analitica_artistas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~1.850.000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Mat. RF01, RF06 y RF08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Otras 3 Vistas Materializadas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~10.477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Tendencias anuales, formatos y geo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1148" marB="41148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umplimiento"/>
          <p:cNvSpPr/>
          <p:nvPr/>
        </p:nvSpPr>
        <p:spPr>
          <a:xfrm>
            <a:off x="6309360" y="5138928"/>
            <a:ext cx="5330952" cy="1152144"/>
          </a:xfrm>
          <a:prstGeom prst="roundRect">
            <a:avLst>
              <a:gd name="adj" fmla="val 10317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Cumplimiento texto"/>
          <p:cNvSpPr txBox="1"/>
          <p:nvPr/>
        </p:nvSpPr>
        <p:spPr>
          <a:xfrm>
            <a:off x="6510528" y="5248656"/>
            <a:ext cx="4928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HOLGADO DEL RNF02 Y RNF03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 Total &gt; 14,5 GB en PostgreSQL 16 (Meta: &gt; 3,0 GB)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en casi 500% el umbral mínimo de almacenamiento físico exigido.</a:t>
            </a:r>
            <a:endParaRPr lang="en-US" sz="10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modelar dim_lanzamiento por perfil (~150 filas en vez de 5,8M), Power BI opera en memoria con máxima compresión.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10  ·  MODELADO DIMENSIONAL (RALPH KIMBALL)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del Modelo en Estrella Puro en Español (Capa Gold)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 histórica diaria centrada exclusivamente en Claves Foráneas (FKs) y 11 Métricas Numéricas 100% Aditivas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10 de 16</a:t>
            </a:r>
            <a:endParaRPr lang="en-US" sz="1000" dirty="0"/>
          </a:p>
        </p:txBody>
      </p:sp>
      <p:sp>
        <p:nvSpPr>
          <p:cNvPr id="6" name="Dimensión 1"/>
          <p:cNvSpPr/>
          <p:nvPr/>
        </p:nvSpPr>
        <p:spPr>
          <a:xfrm>
            <a:off x="548640" y="1691640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Dimensión 1 texto"/>
          <p:cNvSpPr txBox="1"/>
          <p:nvPr/>
        </p:nvSpPr>
        <p:spPr>
          <a:xfrm>
            <a:off x="749808" y="1819656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1  ·  1:N (fecha_key)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gold.dim_fecha (47.848 filas)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 diario continuo (1900 a 2030).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Jerarquía: siglo → decada → anio → trimestre → mes → dia.</a:t>
            </a:r>
            <a:endParaRPr lang="en-US" sz="1000" dirty="0"/>
          </a:p>
        </p:txBody>
      </p:sp>
      <p:sp>
        <p:nvSpPr>
          <p:cNvPr id="8" name="Conector"/>
          <p:cNvSpPr/>
          <p:nvPr/>
        </p:nvSpPr>
        <p:spPr>
          <a:xfrm>
            <a:off x="3703320" y="2412492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9" name="Dimensión 2"/>
          <p:cNvSpPr/>
          <p:nvPr/>
        </p:nvSpPr>
        <p:spPr>
          <a:xfrm>
            <a:off x="548640" y="3270504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0" name="Dimensión 2 texto"/>
          <p:cNvSpPr txBox="1"/>
          <p:nvPr/>
        </p:nvSpPr>
        <p:spPr>
          <a:xfrm>
            <a:off x="749808" y="3398520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2  ·  1:N (artista_key)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gold.dim_artista (3,01 M filas)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Solistas, bandas, coros y orquestas.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nombre_artista, tipo_artista, genero, nombre_pais, anio_inicio.</a:t>
            </a:r>
            <a:endParaRPr lang="en-US" sz="1000" dirty="0"/>
          </a:p>
        </p:txBody>
      </p:sp>
      <p:sp>
        <p:nvSpPr>
          <p:cNvPr id="11" name="Conector"/>
          <p:cNvSpPr/>
          <p:nvPr/>
        </p:nvSpPr>
        <p:spPr>
          <a:xfrm>
            <a:off x="3703320" y="3991356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12" name="Dimensión 3"/>
          <p:cNvSpPr/>
          <p:nvPr/>
        </p:nvSpPr>
        <p:spPr>
          <a:xfrm>
            <a:off x="548640" y="4849368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Dimensión 3 texto"/>
          <p:cNvSpPr txBox="1"/>
          <p:nvPr/>
        </p:nvSpPr>
        <p:spPr>
          <a:xfrm>
            <a:off x="749808" y="4977384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3  ·  1:N (lanzamiento_key)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gold.dim_lanzamiento (~150)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analítico del lanzamiento.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estado_lanzamiento, tipo_empaque y calidad_datos.</a:t>
            </a:r>
            <a:endParaRPr lang="en-US" sz="1000" dirty="0"/>
          </a:p>
        </p:txBody>
      </p:sp>
      <p:sp>
        <p:nvSpPr>
          <p:cNvPr id="14" name="Conector"/>
          <p:cNvSpPr/>
          <p:nvPr/>
        </p:nvSpPr>
        <p:spPr>
          <a:xfrm>
            <a:off x="3703320" y="5570220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15" name="Dimensión 4"/>
          <p:cNvSpPr/>
          <p:nvPr/>
        </p:nvSpPr>
        <p:spPr>
          <a:xfrm>
            <a:off x="8485632" y="1691640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6" name="Dimensión 4 texto"/>
          <p:cNvSpPr txBox="1"/>
          <p:nvPr/>
        </p:nvSpPr>
        <p:spPr>
          <a:xfrm>
            <a:off x="8686800" y="1819656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4  ·  1:N (geografia_key)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gold.dim_geografia (120.108)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geográfica normalizada.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area_id, nombre_area, tipo_area, nombre_pais.</a:t>
            </a:r>
            <a:endParaRPr lang="en-US" sz="1000" dirty="0"/>
          </a:p>
        </p:txBody>
      </p:sp>
      <p:sp>
        <p:nvSpPr>
          <p:cNvPr id="17" name="Conector"/>
          <p:cNvSpPr/>
          <p:nvPr/>
        </p:nvSpPr>
        <p:spPr>
          <a:xfrm>
            <a:off x="8165592" y="2412492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18" name="Dimensión 5"/>
          <p:cNvSpPr/>
          <p:nvPr/>
        </p:nvSpPr>
        <p:spPr>
          <a:xfrm>
            <a:off x="8485632" y="3270504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9" name="Dimensión 5 texto"/>
          <p:cNvSpPr txBox="1"/>
          <p:nvPr/>
        </p:nvSpPr>
        <p:spPr>
          <a:xfrm>
            <a:off x="8686800" y="3398520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5  ·  1:N (formato_key)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gold.dim_formato (114 filas)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Soportes físicos, ópticos y digitales.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nombre_formato, categoria_formato.</a:t>
            </a:r>
            <a:endParaRPr lang="en-US" sz="1000" dirty="0"/>
          </a:p>
        </p:txBody>
      </p:sp>
      <p:sp>
        <p:nvSpPr>
          <p:cNvPr id="20" name="Conector"/>
          <p:cNvSpPr/>
          <p:nvPr/>
        </p:nvSpPr>
        <p:spPr>
          <a:xfrm>
            <a:off x="8165592" y="3991356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21" name="Dimensión 6"/>
          <p:cNvSpPr/>
          <p:nvPr/>
        </p:nvSpPr>
        <p:spPr>
          <a:xfrm>
            <a:off x="8485632" y="4849368"/>
            <a:ext cx="3154680" cy="1441704"/>
          </a:xfrm>
          <a:prstGeom prst="roundRect">
            <a:avLst>
              <a:gd name="adj" fmla="val 8245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2" name="Dimensión 6 texto"/>
          <p:cNvSpPr txBox="1"/>
          <p:nvPr/>
        </p:nvSpPr>
        <p:spPr>
          <a:xfrm>
            <a:off x="8686800" y="4977384"/>
            <a:ext cx="275234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6  ·  1:N (idioma_key)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gold.dim_idioma (354 filas)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ISO 639-3 de publicación.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idioma_id, nombre_idioma, codigo_iso.</a:t>
            </a:r>
            <a:endParaRPr lang="en-US" sz="1000" dirty="0"/>
          </a:p>
        </p:txBody>
      </p:sp>
      <p:sp>
        <p:nvSpPr>
          <p:cNvPr id="23" name="Conector"/>
          <p:cNvSpPr/>
          <p:nvPr/>
        </p:nvSpPr>
        <p:spPr>
          <a:xfrm>
            <a:off x="8165592" y="5570220"/>
            <a:ext cx="320040" cy="0"/>
          </a:xfrm>
          <a:prstGeom prst="line">
            <a:avLst/>
          </a:prstGeom>
          <a:noFill/>
          <a:ln w="22225">
            <a:solidFill>
              <a:srgbClr val="9AA8CF"/>
            </a:solidFill>
            <a:prstDash val="solid"/>
          </a:ln>
        </p:spPr>
      </p:sp>
      <p:sp>
        <p:nvSpPr>
          <p:cNvPr id="24" name="Tabla de hechos"/>
          <p:cNvSpPr/>
          <p:nvPr/>
        </p:nvSpPr>
        <p:spPr>
          <a:xfrm>
            <a:off x="4023360" y="1691640"/>
            <a:ext cx="4142232" cy="4599432"/>
          </a:xfrm>
          <a:prstGeom prst="roundRect">
            <a:avLst>
              <a:gd name="adj" fmla="val 2870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5" name="Tabla de hechos texto"/>
          <p:cNvSpPr txBox="1"/>
          <p:nvPr/>
        </p:nvSpPr>
        <p:spPr>
          <a:xfrm>
            <a:off x="4224528" y="1837944"/>
            <a:ext cx="373989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HECHOS HISTÓRICA DIARIA (PARTICIONADA)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gold.fact_produccion_musical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CLAVE PRIMARIA Y FORÁNEAS CONFORMADAS: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hecho_key (BIGSERIAL) + fecha_key (PK Compuesta)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fecha_key (INTEGER)  →  gold.dim_fecha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artista_key (INTEGER)  →  gold.dim_artista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lanzamiento_key (INTEGER)  →  gold.dim_lanzamiento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geografia_key (INTEGER)  →  gold.dim_geografia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formato_key (INTEGER)  →  gold.dim_formato</a:t>
            </a:r>
            <a:endParaRPr lang="en-US" sz="10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idioma_key (INTEGER)  →  gold.dim_idioma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11 MÉTRICAS NUMÉRICAS 100% ADITIVAS (SUM):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lanzamientos_total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soportes_total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grabaciones_unicas_total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duracion_total_ms (BIGINT)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duracion_total_segundos (NUMERIC(14,2))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duracion_total_minutos (NUMERIC(14,2))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pistas_con_isrc_total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pistas_largas_total (INTEGER  ·  &gt; 5 min)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pistas_video_total (INTEGER)</a:t>
            </a:r>
            <a:endParaRPr lang="en-US" sz="1000" dirty="0"/>
          </a:p>
          <a:p>
            <a:pPr marL="2032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pistas_completas_total (INTEGER  ·  duración &gt; 0)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11  ·  DICCIONARIO DIMENSIONAL EXACTO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Explicación de las 6 Dimensiones Conformadas y sus Atributos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exhaustiva de todas las columnas creadas en sql/gold/03_dimensions_facts.sql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11 de 16</a:t>
            </a:r>
            <a:endParaRPr lang="en-US" sz="1000" dirty="0"/>
          </a:p>
        </p:txBody>
      </p:sp>
      <p:sp>
        <p:nvSpPr>
          <p:cNvPr id="6" name="Dimensión 1"/>
          <p:cNvSpPr/>
          <p:nvPr/>
        </p:nvSpPr>
        <p:spPr>
          <a:xfrm>
            <a:off x="548640" y="1691640"/>
            <a:ext cx="5408676" cy="1499616"/>
          </a:xfrm>
          <a:prstGeom prst="roundRect">
            <a:avLst>
              <a:gd name="adj" fmla="val 7927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Dimensión 1 texto"/>
          <p:cNvSpPr txBox="1"/>
          <p:nvPr/>
        </p:nvSpPr>
        <p:spPr>
          <a:xfrm>
            <a:off x="749808" y="1801368"/>
            <a:ext cx="50063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gold.dim_fecha (47.848 filas)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fecha_key (INTEGER YYYYMMDD, 0 = 'Sin Fecha').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fecha_completa (DATE), anio (INT), trimestre (INT), nombre_trimestre ('Q1'..'Q4'), mes (INT), nombre_mes ('Enero'..), nombre_mes_corto ('Ene'..), dia (INT), dia_semana (1..7), nombre_dia ('Lunes'..), es_fin_de_semana (BOOL), decada ('1970s'..), siglo ('Siglo XX' / 'Siglo XXI').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Eje temporal continuo 1900–2030 alimentado con las fechas reales de release_country.</a:t>
            </a:r>
            <a:endParaRPr lang="en-US" sz="1200" dirty="0"/>
          </a:p>
        </p:txBody>
      </p:sp>
      <p:sp>
        <p:nvSpPr>
          <p:cNvPr id="8" name="Dimensión 2"/>
          <p:cNvSpPr/>
          <p:nvPr/>
        </p:nvSpPr>
        <p:spPr>
          <a:xfrm>
            <a:off x="6231636" y="1691640"/>
            <a:ext cx="5408676" cy="1499616"/>
          </a:xfrm>
          <a:prstGeom prst="roundRect">
            <a:avLst>
              <a:gd name="adj" fmla="val 7927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Dimensión 2 texto"/>
          <p:cNvSpPr txBox="1"/>
          <p:nvPr/>
        </p:nvSpPr>
        <p:spPr>
          <a:xfrm>
            <a:off x="6432804" y="1801368"/>
            <a:ext cx="50063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gold.dim_artista (3.010.452 filas)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artista_key (SERIAL)  |  BK: artista_id (INTEGER UK).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artista_gid (UUID), nombre_artista (TEXT), nombre_orden (TEXT), tipo_artista ('Persona / Solista', 'Grupo / Banda', 'Orquesta', 'Coro'), genero ('Masculino', 'Femenino', 'No Binario'), area_id (INT), nombre_area (TEXT), nombre_pais (TEXT), anio_inicio, anio_fin, finalizado (BOOL), creado_en.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Autoría musical resuelta vía artist_credit_name (position = 0).</a:t>
            </a:r>
            <a:endParaRPr lang="en-US" sz="1200" dirty="0"/>
          </a:p>
        </p:txBody>
      </p:sp>
      <p:sp>
        <p:nvSpPr>
          <p:cNvPr id="10" name="Dimensión 3"/>
          <p:cNvSpPr/>
          <p:nvPr/>
        </p:nvSpPr>
        <p:spPr>
          <a:xfrm>
            <a:off x="548640" y="3319272"/>
            <a:ext cx="5408676" cy="1389888"/>
          </a:xfrm>
          <a:prstGeom prst="roundRect">
            <a:avLst>
              <a:gd name="adj" fmla="val 8553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Dimensión 3 texto"/>
          <p:cNvSpPr txBox="1"/>
          <p:nvPr/>
        </p:nvSpPr>
        <p:spPr>
          <a:xfrm>
            <a:off x="749808" y="3429000"/>
            <a:ext cx="50063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gold.dim_lanzamiento (~150 perfiles)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lanzamiento_key (SERIAL)  |  UK: (estado_id, empaque_id, calidad_id).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estado_lanzamiento ('Oficial', 'Promocional', 'Bootleg / No Oficial', 'Pseudo-Release'), tipo_empaque ('Jewel Case', 'Digipak', 'Gatefold Cover (Vinilo)', 'Sin Embalaje (Digital)'), calidad_datos ('Alta', 'Normal', 'Baja'), creado_en.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Agrupa por perfil comercial para que lanzamientos_total sume múltiples álbumes por día.</a:t>
            </a:r>
            <a:endParaRPr lang="en-US" sz="1200" dirty="0"/>
          </a:p>
        </p:txBody>
      </p:sp>
      <p:sp>
        <p:nvSpPr>
          <p:cNvPr id="12" name="Dimensión 4"/>
          <p:cNvSpPr/>
          <p:nvPr/>
        </p:nvSpPr>
        <p:spPr>
          <a:xfrm>
            <a:off x="6231636" y="3319272"/>
            <a:ext cx="5408676" cy="1389888"/>
          </a:xfrm>
          <a:prstGeom prst="roundRect">
            <a:avLst>
              <a:gd name="adj" fmla="val 8553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Dimensión 4 texto"/>
          <p:cNvSpPr txBox="1"/>
          <p:nvPr/>
        </p:nvSpPr>
        <p:spPr>
          <a:xfrm>
            <a:off x="6432804" y="3429000"/>
            <a:ext cx="50063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gold.dim_geografia (120.108 filas)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geografia_key (SERIAL)  |  BK: area_id (INTEGER UK).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area_gid (UUID), nombre_area (TEXT), tipo_area ('País', 'Subdivisión', 'Condado', 'Municipio', 'Ciudad', 'Distrito', 'Isla'), nombre_pais (TEXT), creado_en.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Ubicación del evento de lanzamiento (release_country.country) o procedencia del artista (artist.area), unida por area_id entero.</a:t>
            </a:r>
            <a:endParaRPr lang="en-US" sz="1200" dirty="0"/>
          </a:p>
        </p:txBody>
      </p:sp>
      <p:sp>
        <p:nvSpPr>
          <p:cNvPr id="14" name="Dimensión 5"/>
          <p:cNvSpPr/>
          <p:nvPr/>
        </p:nvSpPr>
        <p:spPr>
          <a:xfrm>
            <a:off x="548640" y="4837176"/>
            <a:ext cx="5408676" cy="1463040"/>
          </a:xfrm>
          <a:prstGeom prst="roundRect">
            <a:avLst>
              <a:gd name="adj" fmla="val 8125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5" name="Dimensión 5 texto"/>
          <p:cNvSpPr txBox="1"/>
          <p:nvPr/>
        </p:nvSpPr>
        <p:spPr>
          <a:xfrm>
            <a:off x="749808" y="4946904"/>
            <a:ext cx="50063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gold.dim_formato (114 filas)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formato_key (SERIAL)  |  BK: formato_id (INTEGER UK).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nombre_formato ('CD', 'Vinilo 12"', 'Digital Media', 'Cassette', 'FLAC', 'MP3', 'Blu-ray'), categoria_formato ('Digital / Streaming', 'Físico / Vinilo', 'Físico / Óptico', 'Físico / Magnético', 'Otros Formatos').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Permite analizar la evolución tecnológica del soporte físico al streaming.</a:t>
            </a:r>
            <a:endParaRPr lang="en-US" sz="1200" dirty="0"/>
          </a:p>
        </p:txBody>
      </p:sp>
      <p:sp>
        <p:nvSpPr>
          <p:cNvPr id="16" name="Dimensión 6"/>
          <p:cNvSpPr/>
          <p:nvPr/>
        </p:nvSpPr>
        <p:spPr>
          <a:xfrm>
            <a:off x="6231636" y="4837176"/>
            <a:ext cx="5408676" cy="1463040"/>
          </a:xfrm>
          <a:prstGeom prst="roundRect">
            <a:avLst>
              <a:gd name="adj" fmla="val 8125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Dimensión 6 texto"/>
          <p:cNvSpPr txBox="1"/>
          <p:nvPr/>
        </p:nvSpPr>
        <p:spPr>
          <a:xfrm>
            <a:off x="6432804" y="4946904"/>
            <a:ext cx="50063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gold.dim_idioma (354 filas)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idioma_key (SERIAL)  |  BK: idioma_id (INTEGER UK).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nombre_idioma ('Inglés', 'Español', 'Japonés', 'Alemán', 'Francés', 'Sin Contenido Lingüístico / Instrumental', 'Múltiples Idiomas'), codigo_iso ('eng', 'spa', 'jpn', 'zxx', 'mul', 'und').</a:t>
            </a:r>
            <a:endParaRPr lang="en-US" sz="1200" dirty="0"/>
          </a:p>
          <a:p>
            <a:pPr marL="165100" indent="-165100">
              <a:spcAft>
                <a:spcPts val="25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Clasificación lingüística oficial ISO 639-3 de los lanzamientos.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12  ·  INTEGRIDAD REFERENCIAL EN EL MODELO ESTRELLA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de Fila Cero (Key 0) y Garantía de Cero Huérfanos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preservan el 100% de los hechos históricos cuando un atributo dimensional es nulo en el origen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12 de 16</a:t>
            </a:r>
            <a:endParaRPr lang="en-US" sz="1000" dirty="0"/>
          </a:p>
        </p:txBody>
      </p:sp>
      <p:sp>
        <p:nvSpPr>
          <p:cNvPr id="6" name="Fundamento"/>
          <p:cNvSpPr/>
          <p:nvPr/>
        </p:nvSpPr>
        <p:spPr>
          <a:xfrm>
            <a:off x="548640" y="1691640"/>
            <a:ext cx="4663440" cy="4599432"/>
          </a:xfrm>
          <a:prstGeom prst="roundRect">
            <a:avLst>
              <a:gd name="adj" fmla="val 2584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Fundamento texto"/>
          <p:cNvSpPr txBox="1"/>
          <p:nvPr/>
        </p:nvSpPr>
        <p:spPr>
          <a:xfrm>
            <a:off x="749808" y="1856232"/>
            <a:ext cx="426110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ARQUITECTÓNICO DE RALPH KIMBALL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usar la Clave Subrogada 0?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bases relacionales OLTP, muchas grabaciones o lanzamientos carecen de idioma asignado, formato específico o fecha completa.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usáramos INNER JOIN sin fila por defecto, descartaríamos millones de pistas reales, alterando los totales históricos de producción.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dejáramos NULL en las claves foráneas de la tabla de hechos, violaríamos la integridad referencial y romperíamos los filtros en Power BI.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implementada: cada script populate_dim_*.sql inserta explícitamente un registro con Surrogate Key = 0.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populate_fact_tracks.sql se aplica COALESCE(dim_key, 0) en las 6 dimensiones conformadas.</a:t>
            </a:r>
            <a:endParaRPr lang="en-US" sz="10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certificado en meta.data_quality_log: 0 violaciones de integridad referencial en las 6 dimensiones.</a:t>
            </a:r>
            <a:endParaRPr lang="en-US" sz="1000" dirty="0"/>
          </a:p>
        </p:txBody>
      </p:sp>
      <p:graphicFrame>
        <p:nvGraphicFramePr>
          <p:cNvPr id="13" name="Fila ce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691640"/>
          <a:ext cx="61996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783080"/>
                <a:gridCol w="19019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 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PK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 Descriptiva Asignada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en meta.data_quality_log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'Sin Fecha' / 'Sin Década' / 'Sin Siglo'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INTEGRIDAD_FK_DIM_FECHA: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gold.dim_artista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artista_key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'Artista Desconocido' / 'Sin País Registrado'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INTEGRIDAD_FK_DIM_ARTISTA: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gold.dim_lanzamiento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lanzamiento_key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 Clasificado' / 'Estándar / Desconocido'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INTEGRIDAD_FK_DIM_LANZAMIENTO: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gold.dim_geografia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geografia_key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'Sin Área Registrada' / 'Sin País Registrado'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INTEGRIDAD_FK_DIM_GEOGRAFIA: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'Formato No Especificado' / 'Desconocido'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INTEGRIDAD_FK_DIM_FORMATO: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gold.dim_idioma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idioma_key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'Idioma No Especificado' (codigo_iso = 'und')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INTEGRIDAD_FK_DIM_IDIOMA: 0 huérfanos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13  ·  INGENIERÍA DE DATOS Y PROCESAMIENTO MASIVO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E2E del Pipeline ETL (Extracción, Streaming y Agregación)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automatizada desde el archivo comprimido mbdump.tar.bz2 hasta la tabla de hechos y vistas materializadas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13 de 16</a:t>
            </a:r>
            <a:endParaRPr lang="en-US" sz="1000" dirty="0"/>
          </a:p>
        </p:txBody>
      </p:sp>
      <p:sp>
        <p:nvSpPr>
          <p:cNvPr id="6" name="Etapa 1"/>
          <p:cNvSpPr/>
          <p:nvPr/>
        </p:nvSpPr>
        <p:spPr>
          <a:xfrm>
            <a:off x="548640" y="1691640"/>
            <a:ext cx="2567178" cy="4599432"/>
          </a:xfrm>
          <a:prstGeom prst="roundRect">
            <a:avLst>
              <a:gd name="adj" fmla="val 4630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Etapa 1 texto"/>
          <p:cNvSpPr txBox="1"/>
          <p:nvPr/>
        </p:nvSpPr>
        <p:spPr>
          <a:xfrm>
            <a:off x="749808" y="2496312"/>
            <a:ext cx="216484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5D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scripts/setup_database.py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Inicialización DDL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PostgreSQL 16 (puerto 5435).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en orden los 5 archivos DDL:</a:t>
            </a:r>
            <a:endParaRPr lang="en-US" sz="1200" dirty="0"/>
          </a:p>
          <a:p>
            <a:pPr lvl="1" marL="4064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01_schema_meta.sql</a:t>
            </a:r>
            <a:endParaRPr lang="en-US" sz="1200" dirty="0"/>
          </a:p>
          <a:p>
            <a:pPr lvl="1" marL="4064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02_create_silver_tables.sql (10 tablas)</a:t>
            </a:r>
            <a:endParaRPr lang="en-US" sz="1200" dirty="0"/>
          </a:p>
          <a:p>
            <a:pPr lvl="1" marL="4064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03_dimensions_facts.sql (Estrella Español)</a:t>
            </a:r>
            <a:endParaRPr lang="en-US" sz="1200" dirty="0"/>
          </a:p>
          <a:p>
            <a:pPr lvl="1" marL="4064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04_indexes_partitions.sql (14 particiones)</a:t>
            </a:r>
            <a:endParaRPr lang="en-US" sz="1200" dirty="0"/>
          </a:p>
          <a:p>
            <a:pPr lvl="1" marL="406400" indent="-2032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05_aggregations.sql (4 Vistas Mat.)</a:t>
            </a:r>
            <a:endParaRPr lang="en-US" sz="1200" dirty="0"/>
          </a:p>
        </p:txBody>
      </p:sp>
      <p:sp>
        <p:nvSpPr>
          <p:cNvPr id="8" name="Círculo icono"/>
          <p:cNvSpPr/>
          <p:nvPr/>
        </p:nvSpPr>
        <p:spPr>
          <a:xfrm>
            <a:off x="731520" y="1819656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9" name="Icono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33956"/>
            <a:ext cx="228600" cy="228600"/>
          </a:xfrm>
          <a:prstGeom prst="rect">
            <a:avLst/>
          </a:prstGeom>
        </p:spPr>
      </p:pic>
      <p:sp>
        <p:nvSpPr>
          <p:cNvPr id="10" name="Flecha"/>
          <p:cNvSpPr/>
          <p:nvPr/>
        </p:nvSpPr>
        <p:spPr>
          <a:xfrm>
            <a:off x="3152394" y="3863340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11" name="Etapa 2"/>
          <p:cNvSpPr/>
          <p:nvPr/>
        </p:nvSpPr>
        <p:spPr>
          <a:xfrm>
            <a:off x="3390138" y="1691640"/>
            <a:ext cx="2567178" cy="4599432"/>
          </a:xfrm>
          <a:prstGeom prst="roundRect">
            <a:avLst>
              <a:gd name="adj" fmla="val 4630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2" name="Etapa 2 texto"/>
          <p:cNvSpPr txBox="1"/>
          <p:nvPr/>
        </p:nvSpPr>
        <p:spPr>
          <a:xfrm>
            <a:off x="3591306" y="2496312"/>
            <a:ext cx="216484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3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etl/silver/ingest_silver.py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Ingesta Silver Masiva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cada archivo en data/raw/mbdump/.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alguno, lo extrae bajo demanda desde mbdump.tar.bz2 usando tar.exe.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TRUNCATE RESTART IDENTITY y carga vía COPY FROM STDIN con utf-8-sig.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lotes y velocidades en meta.etl_audit.</a:t>
            </a:r>
            <a:endParaRPr lang="en-US" sz="1200" dirty="0"/>
          </a:p>
        </p:txBody>
      </p:sp>
      <p:sp>
        <p:nvSpPr>
          <p:cNvPr id="13" name="Círculo icono"/>
          <p:cNvSpPr/>
          <p:nvPr/>
        </p:nvSpPr>
        <p:spPr>
          <a:xfrm>
            <a:off x="3573018" y="1819656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4" name="Icono" descr="Fa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933956"/>
            <a:ext cx="228600" cy="228600"/>
          </a:xfrm>
          <a:prstGeom prst="rect">
            <a:avLst/>
          </a:prstGeom>
        </p:spPr>
      </p:pic>
      <p:sp>
        <p:nvSpPr>
          <p:cNvPr id="15" name="Flecha"/>
          <p:cNvSpPr/>
          <p:nvPr/>
        </p:nvSpPr>
        <p:spPr>
          <a:xfrm>
            <a:off x="5993892" y="3863340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16" name="Etapa 3"/>
          <p:cNvSpPr/>
          <p:nvPr/>
        </p:nvSpPr>
        <p:spPr>
          <a:xfrm>
            <a:off x="6231636" y="1691640"/>
            <a:ext cx="2567178" cy="4599432"/>
          </a:xfrm>
          <a:prstGeom prst="roundRect">
            <a:avLst>
              <a:gd name="adj" fmla="val 4630"/>
            </a:avLst>
          </a:prstGeom>
          <a:solidFill>
            <a:srgbClr val="FFF4CC"/>
          </a:solidFill>
          <a:ln w="6350">
            <a:solidFill>
              <a:srgbClr val="FFF4CC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7" name="Etapa 3 texto"/>
          <p:cNvSpPr txBox="1"/>
          <p:nvPr/>
        </p:nvSpPr>
        <p:spPr>
          <a:xfrm>
            <a:off x="6432804" y="2496312"/>
            <a:ext cx="216484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A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etl/silver/ingest_tracks_sliced.py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Streaming de Pistas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el archivo masivo track mediante la clase MaxLineReader (buffer circular de 128 KB).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 de forma determinista exactamente 15.000.000 de pistas reales hacia silver.track.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el consumo de RAM de Python por debajo de 50 MB.</a:t>
            </a:r>
            <a:endParaRPr lang="en-US" sz="1200" dirty="0"/>
          </a:p>
        </p:txBody>
      </p:sp>
      <p:sp>
        <p:nvSpPr>
          <p:cNvPr id="18" name="Círculo icono"/>
          <p:cNvSpPr/>
          <p:nvPr/>
        </p:nvSpPr>
        <p:spPr>
          <a:xfrm>
            <a:off x="6414516" y="1819656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9" name="Icono" descr="FaStre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33956"/>
            <a:ext cx="228600" cy="228600"/>
          </a:xfrm>
          <a:prstGeom prst="rect">
            <a:avLst/>
          </a:prstGeom>
        </p:spPr>
      </p:pic>
      <p:sp>
        <p:nvSpPr>
          <p:cNvPr id="20" name="Flecha"/>
          <p:cNvSpPr/>
          <p:nvPr/>
        </p:nvSpPr>
        <p:spPr>
          <a:xfrm>
            <a:off x="8835390" y="3863340"/>
            <a:ext cx="201168" cy="256032"/>
          </a:xfrm>
          <a:prstGeom prst="rightArrow">
            <a:avLst/>
          </a:prstGeom>
          <a:solidFill>
            <a:srgbClr val="B4BEDB"/>
          </a:solidFill>
          <a:ln w="6350">
            <a:solidFill>
              <a:srgbClr val="B4BEDB"/>
            </a:solidFill>
            <a:prstDash val="solid"/>
          </a:ln>
        </p:spPr>
      </p:sp>
      <p:sp>
        <p:nvSpPr>
          <p:cNvPr id="21" name="Etapa 4"/>
          <p:cNvSpPr/>
          <p:nvPr/>
        </p:nvSpPr>
        <p:spPr>
          <a:xfrm>
            <a:off x="9073134" y="1691640"/>
            <a:ext cx="2567178" cy="4599432"/>
          </a:xfrm>
          <a:prstGeom prst="roundRect">
            <a:avLst>
              <a:gd name="adj" fmla="val 4630"/>
            </a:avLst>
          </a:prstGeom>
          <a:solidFill>
            <a:srgbClr val="FADFE9"/>
          </a:solidFill>
          <a:ln w="6350">
            <a:solidFill>
              <a:srgbClr val="FADFE9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22" name="Etapa 4 texto"/>
          <p:cNvSpPr txBox="1"/>
          <p:nvPr/>
        </p:nvSpPr>
        <p:spPr>
          <a:xfrm>
            <a:off x="9274302" y="2496312"/>
            <a:ext cx="216484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A63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etl/gold/run_gold_pipeline.py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A6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Agregación Gold &amp; DQ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Puebla en orden las 6 dimensiones conformadas en español (populate_dim_*.sql).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populate_fact_tracks.sql: resuelve fechas reales, artista principal y hace GROUP BY diario con las 11 métricas aditivas.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Refresca las 4 MVs y valida calidad en meta.data_quality_log.</a:t>
            </a:r>
            <a:endParaRPr lang="en-US" sz="1200" dirty="0"/>
          </a:p>
        </p:txBody>
      </p:sp>
      <p:sp>
        <p:nvSpPr>
          <p:cNvPr id="23" name="Círculo icono"/>
          <p:cNvSpPr/>
          <p:nvPr/>
        </p:nvSpPr>
        <p:spPr>
          <a:xfrm>
            <a:off x="9256014" y="1819656"/>
            <a:ext cx="457200" cy="457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4" name="Icono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93395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14  ·  SANEAMIENTO Y CALIDAD DE DATOS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Completo de Reglas EDA Implementadas (E01 — E10)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deterministas aplicadas entre Silver y Gold (documentadas en docs/reglas_eda.md)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14 de 16</a:t>
            </a:r>
            <a:endParaRPr lang="en-US" sz="1000" dirty="0"/>
          </a:p>
        </p:txBody>
      </p:sp>
      <p:graphicFrame>
        <p:nvGraphicFramePr>
          <p:cNvPr id="15" name="Reglas E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4206240"/>
                <a:gridCol w="4142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de Calidad EDA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Técnica Implementada en SQL /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 Arquitectónica en el DWH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F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Duraciones nulas o en cero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GREATEST(COALESCE(NULLIF(t.length,0), NULLIF(rec.length,0), 0), 0).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Rescata la duración del recording master y suma en pistas_completas_total.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4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Fechas históricas reales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Prioridad: release_country → release_unknown_country → artist.begin_date_year → 0.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Garantiza que dim_fecha refleje el año/mes/día real de publicación (1900–2030).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de artist_credit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LEFT JOIN silver.artist_credit_name con filtro position = 0.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Vincula el lanzamiento y la pista con el artist.id principal real.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5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Deduplicación de ISRC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Subconsulta SELECT DISTINCT recording FROM silver.isrc.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multiplicar filas por múltiples códigos ISRC y suma en pistas_con_isrc_total.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63A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booleanos en Hechos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Conversión de flags a SUM(CASE WHEN ... THEN 1 ELSE 0 END).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 booleanos por métricas enteras aditivas (pistas_largas_total, video).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Cadenas &gt; 1.000 caracteres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Uso nativo de tipo TEXT con compresión TOAST en Silver y Gold.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errores de truncamiento en títulos de obras clásicas o experimentales.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Claves foráneas huérfanas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Imputación al registro surrogate 0 mediante COALESCE(dim_key, 0).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Garantiza Cero Huérfanos en las 6 dimensiones sin descartar hechos.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4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Saneamiento UTF-8 BOM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Decodificación con encoding='utf-8-sig' y errors='replace'.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caracteres Byte Order Mark (\ufeff) en entornos Windows.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geográfico por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Unión exacta por clave entera area_id hacia gold.dim_geografia.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el Fan Trap causado por ciudades o regiones con nombres homónimos.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5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automatizada DQ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Ejecución de 7 reglas críticas al cierre de run_gold_pipeline.py.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 evidencia auditable de 0 violaciones en meta.data_quality_log.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15  ·  OPTIMIZACIÓN FÍSICA Y EXPLOTACIÓN ANALÍTICA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Particionamiento por Rango, Vistas Materializadas y Power BI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alto rendimiento en sql/gold/04_indexes_partitions.sql, 05_aggregations.sql y medidas DAX aditivas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15 de 16</a:t>
            </a:r>
            <a:endParaRPr lang="en-US" sz="1000" dirty="0"/>
          </a:p>
        </p:txBody>
      </p:sp>
      <p:sp>
        <p:nvSpPr>
          <p:cNvPr id="6" name="Columna 1"/>
          <p:cNvSpPr/>
          <p:nvPr/>
        </p:nvSpPr>
        <p:spPr>
          <a:xfrm>
            <a:off x="548640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Columna 1 texto"/>
          <p:cNvSpPr txBox="1"/>
          <p:nvPr/>
        </p:nvSpPr>
        <p:spPr>
          <a:xfrm>
            <a:off x="749808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PARTICIONAMIENTO DECLARATIVO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Particiones por fecha_key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gold.fact_produccion_musical está particionada por RANGE (fecha_key):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fact_produccion_unknown (0)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fact_produccion_pre_1970 (1900–1969)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Décadas: 1970s, 1980s, 1990s, 2000s, 2010s.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Anuales: 2020, 2021, 2022, 2023, 2024, 2025.</a:t>
            </a:r>
            <a:endParaRPr lang="en-US" sz="1000" dirty="0"/>
          </a:p>
          <a:p>
            <a:pPr lvl="1" marL="330200" indent="-165100">
              <a:spcAft>
                <a:spcPts val="200"/>
              </a:spcAft>
              <a:buSzPct val="100000"/>
              <a:buChar char="–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fact_produccion_2026_plus y default.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Pruning: descarta más del 85% del I/O al filtrar por década o año.</a:t>
            </a:r>
            <a:endParaRPr lang="en-US" sz="1000" dirty="0"/>
          </a:p>
        </p:txBody>
      </p:sp>
      <p:sp>
        <p:nvSpPr>
          <p:cNvPr id="8" name="Columna 2"/>
          <p:cNvSpPr/>
          <p:nvPr/>
        </p:nvSpPr>
        <p:spPr>
          <a:xfrm>
            <a:off x="4322064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Columna 2 texto"/>
          <p:cNvSpPr txBox="1"/>
          <p:nvPr/>
        </p:nvSpPr>
        <p:spPr>
          <a:xfrm>
            <a:off x="4523232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VISTAS MATERIALIZADAS EN ESPAÑOL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Agregaciones Pre-Calculadas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gold.mv_tendencias_produccion_anual (RF01, RF05): evolución por anio, decada y siglo.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gold.mv_analitica_artistas (RF01, RF06, RF08): catálogo acumulado por artista, tipo y país.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gold.mv_evolucion_formatos (RF02, RF04): matriz temporal por formato y categoría.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gold.mv_distribucion_geografica (RF03, RF06): producción por país y tipo de área.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vista posee índices únicos B-Tree.</a:t>
            </a:r>
            <a:endParaRPr lang="en-US" sz="1000" dirty="0"/>
          </a:p>
        </p:txBody>
      </p:sp>
      <p:sp>
        <p:nvSpPr>
          <p:cNvPr id="10" name="Columna 3"/>
          <p:cNvSpPr/>
          <p:nvPr/>
        </p:nvSpPr>
        <p:spPr>
          <a:xfrm>
            <a:off x="8095488" y="1691640"/>
            <a:ext cx="3544824" cy="4599432"/>
          </a:xfrm>
          <a:prstGeom prst="roundRect">
            <a:avLst>
              <a:gd name="adj" fmla="val 3353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Columna 3 texto"/>
          <p:cNvSpPr txBox="1"/>
          <p:nvPr/>
        </p:nvSpPr>
        <p:spPr>
          <a:xfrm>
            <a:off x="8296656" y="1856232"/>
            <a:ext cx="3142488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100" kern="0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EXPLOTACIÓN EN POWER BI (DAX)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100% Aditivas (SUM)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Lanzamientos =</a:t>
            </a:r>
            <a:endParaRPr lang="en-US" sz="10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3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SUM(fact_produccion_musical[lanzamientos_total])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Pistas =</a:t>
            </a:r>
            <a:endParaRPr lang="en-US" sz="10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3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SUM(fact_produccion_musical[pistas_total])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Promedio (Seg) =</a:t>
            </a:r>
            <a:endParaRPr lang="en-US" sz="10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3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DIVIDE(SUM([duracion_total_segundos]), SUM([pistas_completas_total]), 0)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ISRC % =</a:t>
            </a:r>
            <a:endParaRPr lang="en-US" sz="10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3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DIVIDE(SUM([pistas_con_isrc_total]), [Total Pistas], 0)</a:t>
            </a:r>
            <a:endParaRPr lang="en-US" sz="1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el acortamiento musical en la era del streaming y la transición Vinilo → CD → Digital.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3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16  ·  SÍNTESIS FINAL Y CIERRE DE SUSTENTACIÓN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Técnicas, Arquitectónicas y de Negocio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070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consolidados tras el rediseño del Modelo en Estrella Puro en Español bajo los lineamientos de Ralph Kimball</a:t>
            </a:r>
            <a:endParaRPr lang="en-US" sz="1300" dirty="0"/>
          </a:p>
        </p:txBody>
      </p:sp>
      <p:sp>
        <p:nvSpPr>
          <p:cNvPr id="5" name="Pie de página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DWMusicBrainz  |  Ingeniería de Sistemas  ·  Bases de Datos Avanzadas  ·  Universidad Popular del Cesar  |  Pág. 16 de 16</a:t>
            </a:r>
            <a:endParaRPr lang="en-US" sz="1000" dirty="0"/>
          </a:p>
        </p:txBody>
      </p:sp>
      <p:sp>
        <p:nvSpPr>
          <p:cNvPr id="6" name="Conclusión 1"/>
          <p:cNvSpPr/>
          <p:nvPr/>
        </p:nvSpPr>
        <p:spPr>
          <a:xfrm>
            <a:off x="548640" y="1691640"/>
            <a:ext cx="5408676" cy="2208276"/>
          </a:xfrm>
          <a:prstGeom prst="roundRect">
            <a:avLst>
              <a:gd name="adj" fmla="val 5383"/>
            </a:avLst>
          </a:prstGeom>
          <a:solidFill>
            <a:srgbClr val="DCE9FB"/>
          </a:solidFill>
          <a:ln w="6350">
            <a:solidFill>
              <a:srgbClr val="DCE9FB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7" name="Conclusión 1 texto"/>
          <p:cNvSpPr txBox="1"/>
          <p:nvPr/>
        </p:nvSpPr>
        <p:spPr>
          <a:xfrm>
            <a:off x="749808" y="1856232"/>
            <a:ext cx="500634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F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Rigor en el Modelo en Estrella (Kimball)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replanteó la tabla de hechos (gold.fact_produccion_musical) como un verdadero almacenamiento histórico diario.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eliminar todos los textos y booleanos de la tabla de hechos y dejar únicamente las 6 FKs conformadas más 11 métricas numéricas aditivas, todas las consultas analíticas operan mediante funciones SUM() puras.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modelado de dim_lanzamiento por perfil conformado permitió consolidar múltiples lanzamientos diarios en lanzamientos_total.</a:t>
            </a:r>
            <a:endParaRPr lang="en-US" sz="1500" dirty="0"/>
          </a:p>
        </p:txBody>
      </p:sp>
      <p:sp>
        <p:nvSpPr>
          <p:cNvPr id="8" name="Conclusión 2"/>
          <p:cNvSpPr/>
          <p:nvPr/>
        </p:nvSpPr>
        <p:spPr>
          <a:xfrm>
            <a:off x="6231636" y="1691640"/>
            <a:ext cx="5408676" cy="2208276"/>
          </a:xfrm>
          <a:prstGeom prst="roundRect">
            <a:avLst>
              <a:gd name="adj" fmla="val 5383"/>
            </a:avLst>
          </a:prstGeom>
          <a:solidFill>
            <a:srgbClr val="D9F2E6"/>
          </a:solidFill>
          <a:ln w="6350">
            <a:solidFill>
              <a:srgbClr val="D9F2E6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9" name="Conclusión 2 texto"/>
          <p:cNvSpPr txBox="1"/>
          <p:nvPr/>
        </p:nvSpPr>
        <p:spPr>
          <a:xfrm>
            <a:off x="6432804" y="1856232"/>
            <a:ext cx="500634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3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Fidelidad Histórica con Datos 100% Reales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 de silver.release_country, silver.release_unknown_country y silver.artist_credit_name desde el dump oficial mbdump.tar.bz2 (Schema Sequence 31) dotó al Data Warehouse de fechas de publicación y autorías 100% verídicas.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procesaron ~89,3 millones de registros en Silver y se superaron los 14,5 GB en disco, cumpliendo con creces los requisitos no funcionales de estrés.</a:t>
            </a:r>
            <a:endParaRPr lang="en-US" sz="1500" dirty="0"/>
          </a:p>
        </p:txBody>
      </p:sp>
      <p:sp>
        <p:nvSpPr>
          <p:cNvPr id="10" name="Conclusión 3"/>
          <p:cNvSpPr/>
          <p:nvPr/>
        </p:nvSpPr>
        <p:spPr>
          <a:xfrm>
            <a:off x="548640" y="4082796"/>
            <a:ext cx="5408676" cy="2208276"/>
          </a:xfrm>
          <a:prstGeom prst="roundRect">
            <a:avLst>
              <a:gd name="adj" fmla="val 5383"/>
            </a:avLst>
          </a:prstGeom>
          <a:solidFill>
            <a:srgbClr val="FDE8D8"/>
          </a:solidFill>
          <a:ln w="6350">
            <a:solidFill>
              <a:srgbClr val="FD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1" name="Conclusión 3 texto"/>
          <p:cNvSpPr txBox="1"/>
          <p:nvPr/>
        </p:nvSpPr>
        <p:spPr>
          <a:xfrm>
            <a:off x="749808" y="4247388"/>
            <a:ext cx="500634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25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Calidad de Datos y Cero Huérfanos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sistemática del catálogo de reglas EDA (E01 a E10), el cruce geográfico por clave entera (area_id) y el patrón de Fila Cero (Key 0) garantizaron 0 registros huérfanos y la erradicación de Fan Traps.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auditoría automatizada en meta.etl_audit y meta.data_quality_log asegura trazabilidad de grado empresarial.</a:t>
            </a:r>
            <a:endParaRPr lang="en-US" sz="1500" dirty="0"/>
          </a:p>
        </p:txBody>
      </p:sp>
      <p:sp>
        <p:nvSpPr>
          <p:cNvPr id="12" name="Conclusión 4"/>
          <p:cNvSpPr/>
          <p:nvPr/>
        </p:nvSpPr>
        <p:spPr>
          <a:xfrm>
            <a:off x="6231636" y="4082796"/>
            <a:ext cx="5408676" cy="2208276"/>
          </a:xfrm>
          <a:prstGeom prst="roundRect">
            <a:avLst>
              <a:gd name="adj" fmla="val 5383"/>
            </a:avLst>
          </a:prstGeom>
          <a:solidFill>
            <a:srgbClr val="E7E2F7"/>
          </a:solidFill>
          <a:ln w="6350">
            <a:solidFill>
              <a:srgbClr val="E7E2F7"/>
            </a:solidFill>
            <a:prstDash val="solid"/>
          </a:ln>
          <a:effectLst>
            <a:outerShdw sx="100000" sy="100000" kx="0" ky="0" algn="bl" rotWithShape="0" blurRad="114300" dist="25400" dir="5400000">
              <a:srgbClr val="5B6B9A">
                <a:alpha val="16000"/>
              </a:srgbClr>
            </a:outerShdw>
          </a:effectLst>
        </p:spPr>
      </p:sp>
      <p:sp>
        <p:nvSpPr>
          <p:cNvPr id="13" name="Conclusión 4 texto"/>
          <p:cNvSpPr txBox="1"/>
          <p:nvPr/>
        </p:nvSpPr>
        <p:spPr>
          <a:xfrm>
            <a:off x="6432804" y="4247388"/>
            <a:ext cx="500634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B4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Valor Analítico para la Industria Musical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particionamiento declarativo por rango en fecha_key (14 particiones) y 4 vistas materializadas permite responder en milisegundos a los requerimientos RF01–RF08.</a:t>
            </a:r>
            <a:endParaRPr lang="en-US" sz="15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Power BI se comprueban con evidencia empírica la reducción de la duración musical en la era del streaming, la sustitución tecnológica de formatos físicos por digitales y las brechas regionales de formalización ISRC.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WMusicBrainz Institucional Pastel">
  <a:themeElements>
    <a:clrScheme name="DWMusicBrainz Institucional Pastel">
      <a:dk1>
        <a:srgbClr val="1F2A44"/>
      </a:dk1>
      <a:lt1>
        <a:srgbClr val="FFFFFF"/>
      </a:lt1>
      <a:dk2>
        <a:srgbClr val="3F4F8F"/>
      </a:dk2>
      <a:lt2>
        <a:srgbClr val="F4F7FD"/>
      </a:lt2>
      <a:accent1>
        <a:srgbClr val="2F5DA8"/>
      </a:accent1>
      <a:accent2>
        <a:srgbClr val="5B49A6"/>
      </a:accent2>
      <a:accent3>
        <a:srgbClr val="237A55"/>
      </a:accent3>
      <a:accent4>
        <a:srgbClr val="B25E22"/>
      </a:accent4>
      <a:accent5>
        <a:srgbClr val="A63A68"/>
      </a:accent5>
      <a:accent6>
        <a:srgbClr val="8A6A00"/>
      </a:accent6>
      <a:hlink>
        <a:srgbClr val="2F5DA8"/>
      </a:hlink>
      <a:folHlink>
        <a:srgbClr val="5B49A6"/>
      </a:folHlink>
    </a:clrScheme>
    <a:fontScheme name="DWMusicBrainz Institucional Past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Popular del Cesar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DWMusicBrainz — Sustentación</dc:title>
  <dc:subject>PptxGenJS Presentation</dc:subject>
  <dc:creator>Juan Sebastián Rincón Farelo</dc:creator>
  <cp:lastModifiedBy>Juan Sebastián Rincón Farelo</cp:lastModifiedBy>
  <cp:revision>1</cp:revision>
  <dcterms:created xsi:type="dcterms:W3CDTF">2026-10-16T04:16:57Z</dcterms:created>
  <dcterms:modified xsi:type="dcterms:W3CDTF">2026-10-16T04:16:57Z</dcterms:modified>
</cp:coreProperties>
</file>