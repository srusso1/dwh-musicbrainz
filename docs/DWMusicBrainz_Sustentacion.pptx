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63840" y="502920"/>
            <a:ext cx="384048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0" y="2514600"/>
            <a:ext cx="3840480" cy="1828800"/>
          </a:xfrm>
          <a:prstGeom prst="roundRect">
            <a:avLst/>
          </a:prstGeom>
          <a:solidFill>
            <a:srgbClr val="EDE9FE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0" y="4526280"/>
            <a:ext cx="3840480" cy="1828800"/>
          </a:xfrm>
          <a:prstGeom prst="roundRect">
            <a:avLst/>
          </a:prstGeom>
          <a:solidFill>
            <a:srgbClr val="D1FAE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1000" y="6400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1E3A8A"/>
                </a:solidFill>
                <a:latin typeface="Segoe UI"/>
              </a:defRPr>
            </a:pPr>
            <a:r>
              <a:t> CAPA ORIGEN &amp; SILVER (3NF)</a:t>
            </a:r>
          </a:p>
          <a:p>
            <a:pPr>
              <a:spcAft>
                <a:spcPts val="5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100% Datos Reales MusicBrainz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Volcado oficial mbdump.tar.bz2 (7,1 GB).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Schema Sequence 31 (Octubre 2026).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Cero datos sintéticos o ficticios.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265176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5B21B6"/>
                </a:solidFill>
                <a:latin typeface="Segoe UI"/>
              </a:defRPr>
            </a:pPr>
            <a:r>
              <a:t> CAPA GOLD (RALPH KIMBALL)</a:t>
            </a:r>
          </a:p>
          <a:p>
            <a:pPr>
              <a:spcAft>
                <a:spcPts val="500"/>
              </a:spcAft>
              <a:defRPr sz="1200" b="1">
                <a:solidFill>
                  <a:srgbClr val="5B21B6"/>
                </a:solidFill>
                <a:latin typeface="Segoe UI"/>
              </a:defRPr>
            </a:pPr>
            <a:r>
              <a:t>Modelo Estrella Puro en Español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6 Dimensiones Conformadas (Patrón Key 0).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Hecho Histórico Diario: fact_produccion_musical.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11 Métricas Numéricas 100% Aditivas (SUM).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466344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0F766E"/>
                </a:solidFill>
                <a:latin typeface="Segoe UI"/>
              </a:defRPr>
            </a:pPr>
            <a:r>
              <a:t> POSTGRESQL 16 + DOCKER + POWER BI</a:t>
            </a:r>
          </a:p>
          <a:p>
            <a:pPr>
              <a:spcAft>
                <a:spcPts val="500"/>
              </a:spcAft>
              <a:defRPr sz="1200" b="1">
                <a:solidFill>
                  <a:srgbClr val="0F766E"/>
                </a:solidFill>
                <a:latin typeface="Segoe UI"/>
              </a:defRPr>
            </a:pPr>
            <a:r>
              <a:t>Alto Rendimiento &amp; Gobernanza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~98,6 M filas Silver | ~16 GB en disco.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15 Particiones por fecha_key + 4 Vistas Mat.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Auditoría en meta.etl_audit y data_quality_log.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2920"/>
            <a:ext cx="7086600" cy="5852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77724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B21B6"/>
                </a:solidFill>
              </a:defRPr>
            </a:pPr>
            <a:r>
              <a:t>PROYECTO INTEGRADOR  ·  BASES DE DATOS AVANZADAS</a:t>
            </a:r>
          </a:p>
          <a:p>
            <a:br/>
            <a:pPr>
              <a:spcAft>
                <a:spcPts val="1000"/>
              </a:spcAft>
              <a:defRPr sz="2400" b="1">
                <a:solidFill>
                  <a:srgbClr val="1E3A8A"/>
                </a:solidFill>
              </a:defRPr>
            </a:pPr>
            <a:r>
              <a:t>Implementar un Data Warehouse Analítico de Alta Volumetría para la Industria Musical Global (DWMusicBrainz)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</a:defRPr>
            </a:pPr>
            <a:r>
              <a:t>Arquitectura Medallón (Silver 3NF → Gold Estrella Puro en Español) sobre PostgreSQL 16 en Docker y Explotación Analítica en Microsoft Power BI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Autores: Juan Sebastián Rincón Farelo y equipo de Ingeniería de Datos</a:t>
            </a:r>
            <a:br/>
            <a:r>
              <a:t>• Programa: Ingeniería de Sistemas  —  5to Semestre Académico</a:t>
            </a:r>
            <a:br/>
            <a:r>
              <a:t>• Institución: Universidad Popular del Cesar (UPC)</a:t>
            </a:r>
            <a:br/>
            <a:r>
              <a:t>• Ubicación y Fecha: Valledupar, Cesar, Colombia  · 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9D174D"/>
                </a:solidFill>
                <a:latin typeface="Segoe UI"/>
              </a:defRPr>
            </a:pPr>
            <a:r>
              <a:t>DIAPOSITIVA 02  ·  INTRODUCCIÓN Y PLANTEAMIENTO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De la Base de Datos Transaccional (OLTP) al Data Warehouse (OLAP)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Contexto de MusicBrainz en 3NF, el problema de usarlo para analítica y cómo nuestro DWH en estrella lo soluciona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2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566160" cy="49834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1E3A8A"/>
                </a:solidFill>
                <a:latin typeface="Segoe UI"/>
              </a:defRPr>
            </a:pPr>
            <a:r>
              <a:t>1 · CONTEXTO DE LA BD ORIGEN (OLTP)</a:t>
            </a:r>
          </a:p>
          <a:p>
            <a:pPr>
              <a:spcAft>
                <a:spcPts val="5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MusicBrainz en 3ra Forma Normal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Enciclopedia musical global mantenida por la MetaBrainz Foundation (Schema Sequence 31).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Diseñada para transacciones operacionales (OLTP): inserciones y ediciones comunitarias ACID.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Alta fragmentación relacional en 10 tablas normalizadas: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  - area (120k), artist (3.02M), artist_credit_name (7.30M).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  - release (5.86M), release_country (13.34M), release_unknown_country (484k).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  - medium (6.43M), recording (40.60M), track (15M), isrc (6.50M).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Total procesado en origen: ~98,6 millones de registros.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566160" cy="498348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90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9D174D"/>
                </a:solidFill>
                <a:latin typeface="Segoe UI"/>
              </a:defRPr>
            </a:pPr>
            <a:r>
              <a:t>2 · PROBLEMA DE USAR UN OLTP PARA BI</a:t>
            </a:r>
          </a:p>
          <a:p>
            <a:pPr>
              <a:spcAft>
                <a:spcPts val="500"/>
              </a:spcAft>
              <a:defRPr sz="1200" b="1">
                <a:solidFill>
                  <a:srgbClr val="9D174D"/>
                </a:solidFill>
                <a:latin typeface="Segoe UI"/>
              </a:defRPr>
            </a:pPr>
            <a:r>
              <a:t>Cuello de Botella en Consultas Masivas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Encadenamiento de 8 a 10 JOINs por consulta: para relacionar una pista con su fecha real, país, formato y artista principal hay que cruzar decenas de millones de filas.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Ausencia de grano histórico consolidado: las tablas OLTP guardan entidades sueltas con flags booleanos y textos largos, no resúmenes históricos diarios.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Penalización severa de I/O y RAM: calcular tendencias por década o cobertura ISRC sobre 40,6M de grabaciones y 15M de pistas en 3NF agota la memoria y tarda minutos.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Riesgo de Fan Traps: cruzar por nombres de áreas o múltiples ISRCs duplica conteos si no se pre-agrega.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325880"/>
            <a:ext cx="3566160" cy="498348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0F766E"/>
                </a:solidFill>
                <a:latin typeface="Segoe UI"/>
              </a:defRPr>
            </a:pPr>
            <a:r>
              <a:t>3 · CÓMO NUESTRO DWH OLAP LO SOLUCIONA</a:t>
            </a:r>
          </a:p>
          <a:p>
            <a:pPr>
              <a:spcAft>
                <a:spcPts val="500"/>
              </a:spcAft>
              <a:defRPr sz="1200" b="1">
                <a:solidFill>
                  <a:srgbClr val="0F766E"/>
                </a:solidFill>
                <a:latin typeface="Segoe UI"/>
              </a:defRPr>
            </a:pPr>
            <a:r>
              <a:t>Estrella Pura Histórica en Español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Desacoplamiento Medallón (Silver → Gold): Silver limpia y tipa las 10 tablas 3NF; Gold consolida el modelo dimensional en español.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Tabla de Hechos Histórica Diaria (gold.fact_produccion_musical): agrupa por día (fecha_key) y las 5 dimensiones conformadas.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Cero textos y cero booleanos en hechos: solo llaves foráneas enteras y 11 métricas numéricas 100% aditivas (SUM).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Particionamiento por rango en fecha_key (15 particiones) + 4 Vistas Materializadas: consultas en &lt; 0,10 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5B21B6"/>
                </a:solidFill>
                <a:latin typeface="Segoe UI"/>
              </a:defRPr>
            </a:pPr>
            <a:r>
              <a:t>DIAPOSITIVA 03  ·  FORMULACIÓN METODOLÓGICA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Objetivo General y Objetivos Específicos (Taxonomía de Bloom)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El Objetivo General corresponde al título del proyecto; los Objetivos Específicos se formulan con verbos de Bloom sin explicación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3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5B21B6"/>
                </a:solidFill>
                <a:latin typeface="Segoe UI"/>
              </a:defRPr>
            </a:pPr>
            <a:r>
              <a:t>OBJETIVO GENERAL (ALINEADO AL TÍTULO DEL PROYECTO  ·  NIVEL CREAR / IMPLEMENTAR — BLOOM)</a:t>
            </a:r>
          </a:p>
          <a:p>
            <a:pPr>
              <a:spcAft>
                <a:spcPts val="500"/>
              </a:spcAft>
              <a:defRPr sz="1450" b="1">
                <a:solidFill>
                  <a:srgbClr val="5B21B6"/>
                </a:solidFill>
                <a:latin typeface="Segoe UI"/>
              </a:defRPr>
            </a:pPr>
            <a:r>
              <a:t>Implementar un Data Warehouse analítico de alta volumetría para la industria musical global (DWMusicBrainz) bajo arquitectura Medallón y modelo en estrella puro de Ralph Kimball en PostgreSQL 16.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52928"/>
            <a:ext cx="5440680" cy="105156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1E3A8A"/>
                </a:solidFill>
                <a:latin typeface="Segoe UI"/>
              </a:defRPr>
            </a:pPr>
            <a:r>
              <a:t>OBJETIVO ESPECÍFICO 1  ·  NIVEL APLICAR (BLOOM)</a:t>
            </a:r>
          </a:p>
          <a:p>
            <a:pPr>
              <a:spcAft>
                <a:spcPts val="35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Extraer los conjuntos de datos transaccionales reales del volcado oficial de MusicBrainz (Schema Sequence 31) hacia la capa de almacenamiento intermedio Silver en Tercera Forma Normal.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852928"/>
            <a:ext cx="5440680" cy="105156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0F766E"/>
                </a:solidFill>
                <a:latin typeface="Segoe UI"/>
              </a:defRPr>
            </a:pPr>
            <a:r>
              <a:t>OBJETIVO ESPECÍFICO 2  ·  NIVEL ANALIZAR (BLOOM)</a:t>
            </a:r>
          </a:p>
          <a:p>
            <a:pPr>
              <a:spcAft>
                <a:spcPts val="35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Estandarizar la calidad de los datos mediante la aplicación de diez reglas de limpieza, tipado nativo, resolución de fechas históricas reales y vinculación de créditos de autoría.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23360"/>
            <a:ext cx="5440680" cy="105156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B45309"/>
                </a:solidFill>
                <a:latin typeface="Segoe UI"/>
              </a:defRPr>
            </a:pPr>
            <a:r>
              <a:t>OBJETIVO ESPECÍFICO 3  ·  NIVEL CREAR (BLOOM)</a:t>
            </a:r>
          </a:p>
          <a:p>
            <a:pPr>
              <a:spcAft>
                <a:spcPts val="35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Diseñar el modelo dimensional en estrella puro en español conformado por seis dimensiones con claves subrogadas y una tabla de hechos histórica diaria con métricas aditivas.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440680" cy="105156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90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9D174D"/>
                </a:solidFill>
                <a:latin typeface="Segoe UI"/>
              </a:defRPr>
            </a:pPr>
            <a:r>
              <a:t>OBJETIVO ESPECÍFICO 4  ·  NIVEL APLICAR (BLOOM)</a:t>
            </a:r>
          </a:p>
          <a:p>
            <a:pPr>
              <a:spcAft>
                <a:spcPts val="35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Construir el pipeline automatizado de extracción, transformación y carga (ETL) mediante streaming en Python y sentencias SQL de agregación histórica por conjuntos.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93792"/>
            <a:ext cx="5440680" cy="1051560"/>
          </a:xfrm>
          <a:prstGeom prst="roundRect">
            <a:avLst>
              <a:gd name="adj" fmla="val 4000"/>
            </a:avLst>
          </a:prstGeom>
          <a:solidFill>
            <a:srgbClr val="FEF9C3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B45309"/>
                </a:solidFill>
                <a:latin typeface="Segoe UI"/>
              </a:defRPr>
            </a:pPr>
            <a:r>
              <a:t>OBJETIVO ESPECÍFICO 5  ·  NIVEL EVALUAR (BLOOM)</a:t>
            </a:r>
          </a:p>
          <a:p>
            <a:pPr>
              <a:spcAft>
                <a:spcPts val="35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Optimizar el rendimiento de las consultas analíticas mediante particionamiento físico declarativo por rangos de fecha, indexación B-Tree y cuatro vistas materializadas.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5193792"/>
            <a:ext cx="5440680" cy="105156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1E3A8A"/>
                </a:solidFill>
                <a:latin typeface="Segoe UI"/>
              </a:defRPr>
            </a:pPr>
            <a:r>
              <a:t>OBJETIVO ESPECÍFICO 6  ·  NIVEL EVALUAR (BLOOM)</a:t>
            </a:r>
          </a:p>
          <a:p>
            <a:pPr>
              <a:spcAft>
                <a:spcPts val="35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Validar la integridad referencial de cero huérfanos, la volumetría física en disco y las métricas aditivas para su explotación visual mediante medidas DAX en Power BI.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1E3A8A"/>
                </a:solidFill>
                <a:latin typeface="Segoe UI"/>
              </a:defRPr>
            </a:pPr>
            <a:r>
              <a:t>DIAPOSITIVA 04  ·  ESPECIFICACIÓN DE REQUERIMIENTOS ANALÍTICOS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Requerimientos Funcionales del Sistema (RF01 — RF08)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Alineados estrictamente con las vistas materializadas, dimensiones en español y métricas aditivas implementadas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4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5440680" cy="1152144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1E3A8A"/>
                </a:solidFill>
                <a:latin typeface="Segoe UI"/>
              </a:defRPr>
            </a:pPr>
            <a:r>
              <a:t>RF01 · Ranking Top N de Catálogo y Producción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Obtener el ranking de artistas con mayor volumen de lanzamientos (SUM(lanzamientos_total)), pistas (SUM(pistas_total)), duración acumulada y cobertura ISRC por país y década.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98448"/>
            <a:ext cx="5440680" cy="1152144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5B21B6"/>
                </a:solidFill>
                <a:latin typeface="Segoe UI"/>
              </a:defRPr>
            </a:pPr>
            <a:r>
              <a:t>RF02 · Métricas por Formato e Idioma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Comparar la duración promedio ponderada (SUM(duracion_total_segundos) / SUM(pistas_completas_total)) y el volumen de producción según formato (Vinilo, CD, Digital) e idioma (dim_idioma).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60320"/>
            <a:ext cx="5440680" cy="1152144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0F766E"/>
                </a:solidFill>
                <a:latin typeface="Segoe UI"/>
              </a:defRPr>
            </a:pPr>
            <a:r>
              <a:t>RF03 · Drill-Down Geográfico y Temporal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Permitir la navegación jerárquica geográfica (nombre_pais → tipo_area → nombre_area en dim_geografia) y temporal (siglo → decada → anio → trimestre → mes → dia en dim_fecha).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560320"/>
            <a:ext cx="5440680" cy="1152144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B45309"/>
                </a:solidFill>
                <a:latin typeface="Segoe UI"/>
              </a:defRPr>
            </a:pPr>
            <a:r>
              <a:t>RF04 · Penetración Digital vs Físico y Pistas Largas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Cuantificar la transición entre soportes físicos y digitales en dim_formato y la proporción de canciones largas mayores a 5 minutos (SUM(pistas_largas_total) / SUM(pistas_total)).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22191"/>
            <a:ext cx="5440680" cy="1152144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90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9D174D"/>
                </a:solidFill>
                <a:latin typeface="Segoe UI"/>
              </a:defRPr>
            </a:pPr>
            <a:r>
              <a:t>RF05 · Correlación Estadística Año vs Duración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Calcular matemáticamente la correlación de Pearson (corr()) entre el año histórico de publicación (anio) y la duración promedio para demostrar el acortamiento en la era del streaming.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22191"/>
            <a:ext cx="5440680" cy="1152144"/>
          </a:xfrm>
          <a:prstGeom prst="roundRect">
            <a:avLst>
              <a:gd name="adj" fmla="val 4000"/>
            </a:avLst>
          </a:prstGeom>
          <a:solidFill>
            <a:srgbClr val="FEF9C3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B45309"/>
                </a:solidFill>
                <a:latin typeface="Segoe UI"/>
              </a:defRPr>
            </a:pPr>
            <a:r>
              <a:t>RF06 · Tasa de Formalización Fonográfica ISRC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Determinar el porcentaje de pistas registradas con código internacional ISRC (SUM(pistas_con_isrc_total) * 100 / SUM(pistas_total)) segmentado por país y tipo de artista.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084064"/>
            <a:ext cx="5440680" cy="1152144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1E3A8A"/>
                </a:solidFill>
                <a:latin typeface="Segoe UI"/>
              </a:defRPr>
            </a:pPr>
            <a:r>
              <a:t>RF07 · Densidad de Pistas y Soportes por Lanzamiento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Analizar la relación aditiva de pistas por lanzamiento (SUM(pistas_total) / SUM(lanzamientos_total)) y pistas por soporte (SUM(pistas_total) / SUM(soportes_total)) según el perfil de empaque.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5084064"/>
            <a:ext cx="5440680" cy="1152144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0F766E"/>
                </a:solidFill>
                <a:latin typeface="Segoe UI"/>
              </a:defRPr>
            </a:pPr>
            <a:r>
              <a:t>RF08 · Detección de Catálogo y Artistas Emergentes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Identificar los artistas debutantes en la última década (anio_inicio &gt;= 2015 en dim_artista) con mayor producción acumulada y 100% de formalización ISRC.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0F766E"/>
                </a:solidFill>
                <a:latin typeface="Segoe UI"/>
              </a:defRPr>
            </a:pPr>
            <a:r>
              <a:t>DIAPOSITIVA 05  ·  CALIDAD, RENDIMIENTO Y ESTRÉS FÍSICO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Requerimientos No Funcionales del Proyecto (RNF01 — RNF09)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Criterios técnicos verificados mediante los scripts del repositorio (ingest_tracks_sliced.py, run_gold_pipeline.py, verify_dwh.py)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5 de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5568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783080"/>
                <a:gridCol w="3108960"/>
                <a:gridCol w="4297680"/>
                <a:gridCol w="1188720"/>
              </a:tblGrid>
              <a:tr h="49834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Código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Criterio Técnico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Requisito Exigido en el Proyecto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Implementación Real en DWMusicBrainz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Estado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RNF01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Ingesta por Streaming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Lectura por bloques sin desbordar la memoria RAM del host.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Clase MaxLineReader con buffer de 128 KB hacia COPY FROM STDIN.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CUMPLIDO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RNF02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Huella Física en Disco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Almacenamiento físico en PostgreSQL superior a 3,0 GB.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~16 GB consolidados en disco entre capas Silver, Gold y Meta.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SUPERADO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RNF03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Alta Volumetría Real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Procesar más de 10 millones de registros musicales reales.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~98,6 M de filas en Silver (10 tablas) y 15 M de pistas agregadas en Gold.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SUPERADO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RNF04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Cero Datos Sintéticos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Prohibición absoluta de datos simulados o generados al azar.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100% extraído del dump oficial mbdump.tar.bz2 (Schema Sequence 31).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CUMPLIDO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RNF05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Idempotencia ETL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Re-ejecución limpia del pipeline sin duplicar registros.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TRUNCATE RESTART IDENTITY CASCADE y ON CONFLICT DO UPDATE.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CUMPLIDO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RNF06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Auditoría y Linaje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Bitácora automática de lotes, filas, tiempos y reglas de calidad.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Tablas meta.etl_audit y meta.data_quality_log pobladas en Python.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CUMPLIDO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RNF07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SLA de Consultas OLAP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Tiempo de respuesta inferior a 3,0 segundos en agregaciones.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0,10 segundos mediante Partition Pruning y 4 Vistas Materializadas.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ÓPTIMO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RNF08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Integridad Referencial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Cero registros huérfanos entre la tabla de hechos y dimensiones.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Patrón Fila Cero (Key 0) en las 6 dimensiones + COALESCE(key, 0).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 HUÉRFANOS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RNF09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Portabilidad y Tuning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Infraestructura aislada y reproducible con memoria optimizada.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Docker Compose (postgres:16, puerto 5435, shared_buffers=1GB, shm=1gb).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CUMPLIDO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B45309"/>
                </a:solidFill>
                <a:latin typeface="Segoe UI"/>
              </a:defRPr>
            </a:pPr>
            <a:r>
              <a:t>DIAPOSITIVA 06  ·  DISEÑO ARQUITECTÓNICO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Arquitectura Medallón Implementada (Raw → Silver → Gold + Meta)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Separación física y lógica en esquemas de PostgreSQL 16 para garantizar trazabilidad, limpieza 3NF y modelo estrella puro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6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06040" cy="379476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B45309"/>
                </a:solidFill>
                <a:latin typeface="Segoe UI"/>
              </a:defRPr>
            </a:pPr>
            <a:r>
              <a:t>1 · ORIGEN (BRONZE / RAW)</a:t>
            </a:r>
          </a:p>
          <a:p>
            <a:pPr>
              <a:spcAft>
                <a:spcPts val="500"/>
              </a:spcAft>
              <a:defRPr sz="1180" b="1">
                <a:solidFill>
                  <a:srgbClr val="B45309"/>
                </a:solidFill>
                <a:latin typeface="Segoe UI"/>
              </a:defRPr>
            </a:pPr>
            <a:r>
              <a:t>Volcado Oficial TSV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Archivo maestro: mbdump.tar.bz2 (7,1 GB comprimido).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Extracción quirúrgica bajo demanda hacia data/raw/mbdump/.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11 archivos TSV planos (incluye el catálogo language) sin encabezados y con nulos representados como \N.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metadatos verificados: SCHEMA_SEQUENCE = 31.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25880"/>
            <a:ext cx="2606040" cy="379476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1E3A8A"/>
                </a:solidFill>
                <a:latin typeface="Segoe UI"/>
              </a:defRPr>
            </a:pPr>
            <a:r>
              <a:t>2 · CAPA PLATA (ESQUEMA silver)</a:t>
            </a:r>
          </a:p>
          <a:p>
            <a:pPr>
              <a:spcAft>
                <a:spcPts val="500"/>
              </a:spcAft>
              <a:defRPr sz="1180" b="1">
                <a:solidFill>
                  <a:srgbClr val="1E3A8A"/>
                </a:solidFill>
                <a:latin typeface="Segoe UI"/>
              </a:defRPr>
            </a:pPr>
            <a:r>
              <a:t>Staging Relacional 3NF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10 tablas normalizadas en 3NF (~98,6 M de filas).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Tipado fuerte nativo (INTEGER, SMALLINT, UUID, BOOLEAN, TIMESTAMPTZ).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Uso de tipo TEXT (TOAST) para soportar títulos de &gt; 2.000 caracteres.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Incluye release_country y artist_credit_name.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2606040" cy="379476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5B21B6"/>
                </a:solidFill>
                <a:latin typeface="Segoe UI"/>
              </a:defRPr>
            </a:pPr>
            <a:r>
              <a:t>3 · CAPA ORO (ESQUEMA gold)</a:t>
            </a:r>
          </a:p>
          <a:p>
            <a:pPr>
              <a:spcAft>
                <a:spcPts val="500"/>
              </a:spcAft>
              <a:defRPr sz="1180" b="1">
                <a:solidFill>
                  <a:srgbClr val="5B21B6"/>
                </a:solidFill>
                <a:latin typeface="Segoe UI"/>
              </a:defRPr>
            </a:pPr>
            <a:r>
              <a:t>Estrella Pura en Español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6 Dimensiones Conformadas en español con Surrogate Keys y Fila Cero (Key 0).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1 Tabla de Hechos Histórica Diaria (fact_produccion_musical) particionada por fecha_key.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Solo FKs y 11 métricas numéricas 100% aditivas.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4 Vistas Materializadas indexadas.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325880"/>
            <a:ext cx="2651760" cy="379476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0F766E"/>
                </a:solidFill>
                <a:latin typeface="Segoe UI"/>
              </a:defRPr>
            </a:pPr>
            <a:r>
              <a:t>4 · CONSUMO BI (POWER BI)</a:t>
            </a:r>
          </a:p>
          <a:p>
            <a:pPr>
              <a:spcAft>
                <a:spcPts val="500"/>
              </a:spcAft>
              <a:defRPr sz="1180" b="1">
                <a:solidFill>
                  <a:srgbClr val="0F766E"/>
                </a:solidFill>
                <a:latin typeface="Segoe UI"/>
              </a:defRPr>
            </a:pPr>
            <a:r>
              <a:t>Analítica &amp; Medidas DAX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Conexión a PostgreSQL (esquema gold) en modo Import.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Relaciones 1:* unidireccionales desde las 6 dimensiones hacia el hecho.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Medidas DAX basadas en SUM() directo sobre métricas aditivas.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Respuesta a los requerimientos RF01 a RF08.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85232"/>
            <a:ext cx="11155680" cy="1078992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90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9D174D"/>
                </a:solidFill>
                <a:latin typeface="Segoe UI"/>
              </a:defRPr>
            </a:pPr>
            <a:r>
              <a:t>CAPA TRANSVERSAL DE GOBERNANZA Y AUDITORÍA  ·  ESQUEMA meta (sql/meta/01_schema_meta.sql)</a:t>
            </a:r>
          </a:p>
          <a:p>
            <a:pPr>
              <a:spcAft>
                <a:spcPts val="500"/>
              </a:spcAft>
              <a:defRPr sz="1150" b="1">
                <a:solidFill>
                  <a:srgbClr val="9D174D"/>
                </a:solidFill>
                <a:latin typeface="Segoe UI"/>
              </a:defRPr>
            </a:pPr>
            <a:r>
              <a:t>Control Contable de Lotes (meta.etl_audit) y Certificación de Calidad (meta.data_quality_log)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Registra cada ejecución por capa (RAW_TO_SILVER, SILVER_TO_GOLD), tabla destino, operación (BULK_COPY, HISTORICAL_AGGREGATION), filas leídas/insertadas, duración en segundos y pruebas automáticas de 0 huérfanos.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5B21B6"/>
                </a:solidFill>
                <a:latin typeface="Segoe UI"/>
              </a:defRPr>
            </a:pPr>
            <a:r>
              <a:t>DIAPOSITIVA 07  ·  ORGANIZACIÓN DEL EQUIPO Y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Roles en Cada Etapa del Proyecto y sus Actividades Específicas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Distribución de actividades para los 3 roles oficiales: Ingeniero de Datos, Modelador y Analista de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7 de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154680"/>
                <a:gridCol w="3246120"/>
                <a:gridCol w="3108960"/>
              </a:tblGrid>
              <a:tr h="126873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Rol del Proyecto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Etapa 1: Infraestructura e Ingesta (Raw → Silver)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Etapa 2: Transformación y Calidad (Silver → Gold)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Etapa 3: Optimización y Explotación (Gold → Power BI)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</a:tr>
              <a:tr h="126873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 Ingeniero de Datos</a:t>
                      </a:r>
                    </a:p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(Data Engineer)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Configurar el contenedor Docker con PostgreSQL 16 (puerto 5435) y tuning de memoria (shared_buffers=1GB, shm_size=1gb).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Desarrollar ingest_silver.py para extraer bajo demanda los 10 TSV desde mbdump.tar.bz2.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Implementar MaxLineReader (buffer 128 KB) en ingest_tracks_sliced.py para cargar 15M de pistas vía COPY sin saturar RAM.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Codificar las reglas de limpieza EDA (E01 a E10) en SQL set-based (utf-8-sig, TEXT TOAST, deduplicación ISRC).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Construir el orquestador run_gold_pipeline.py con registro transaccional en meta.etl_audit.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Automatizar las 10 pruebas de calidad en meta.data_quality_log.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Ejecutar el refresco de las 4 vistas materializadas (REFRESH MATERIALIZED VIEW).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Auditar la huella física en disco (~16 GB) y tiempos de ejecución con scripts/verify_dwh.py.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6873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2. Modelador</a:t>
                      </a:r>
                    </a:p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(Dimensional Modeler)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Analizar el modelo relacional 3NF de MusicBrainz (Schema Sequence 31).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Identificar la necesidad de incluir release_country, release_unknown_country y artist_credit_name en Silver para no perder fechas reales ni autoría.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Definir el Grano Histórico Diario de la tabla de hechos gold.fact_produccion_musical.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Diseñar las 6 dimensiones conformadas en español (dim_fecha, dim_artista, dim_lanzamiento, dim_geografia, dim_formato, dim_idioma) con Surrogate Keys y Fila Cero (Key 0).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Eliminar textos y booleanos del hecho, definiendo las 11 métricas aditivas.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Diseñar las 15 particiones físicas por rango en fecha_key (04_indexes_partitions.sql) y los índices B-Tree.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Certificar el cumplimiento de Cero Huérfanos y la eliminación de Fan Traps (JOIN por area_id).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126873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3. Analista de BI</a:t>
                      </a:r>
                    </a:p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(BI Analyst)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Definir las preguntas de negocio de la industria musical y traducirlas en los requerimientos funcionales RF01 a RF08.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Establecer los umbrales de SLA (&lt; 3,0 s) para los tableros.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Especificar las jerarquías analíticas de navegación Drill-Down: temporal (Siglo &gt; Década &gt; Año &gt; Mes &gt; Día) y geográfica (País &gt; Tipo de Área &gt; Área).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Definir las categorías comerciales de dim_formato y los perfiles de dim_lanzamiento.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Diseñar las 4 vistas materializadas analíticas (05_aggregations.sql).</a:t>
                      </a:r>
                    </a:p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Programar el catálogo de medidas DAX 100% aditivas (SUM) en Power BI (POWER_BI_MEASURES.md) y elaborar el storytelling de hallazgos (correlación Pearson, transición digital e ISRC).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1E3A8A"/>
                </a:solidFill>
                <a:latin typeface="Segoe UI"/>
              </a:defRPr>
            </a:pPr>
            <a:r>
              <a:t>DIAPOSITIVA 08  ·  STACK TECNOLÓGICO E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Herramientas Implementadas y Justificación Técnica de su Uso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Cada herramienta responde a una necesidad arquitectónica específica de rendimiento, aislamiento o explotación OLAP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8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5440680" cy="1536192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/>
          </a:p>
        </p:txBody>
      </p:sp>
      <p:pic>
        <p:nvPicPr>
          <p:cNvPr id="7" name="Picture 6" descr="postg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99616"/>
            <a:ext cx="1115568" cy="1115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1371600"/>
            <a:ext cx="40233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E3A8A"/>
                </a:solidFill>
              </a:defRPr>
            </a:pPr>
            <a:r>
              <a:t>PostgreSQL 16 (Motor DWH)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¿Por qué se usó?: Soporte nativo de Particionamiento Declarativo por Rango (fecha_key) con Partition Pruning.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Ingesta ultrarrápida vía protocolo COPY FROM STDIN (&gt; 130.000 filas/seg) y tipo TEXT con compresión TOAST.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Soporta Vistas Materializadas indexadas y paralelismo.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98448"/>
            <a:ext cx="5440680" cy="1536192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/>
          </a:p>
        </p:txBody>
      </p:sp>
      <p:pic>
        <p:nvPicPr>
          <p:cNvPr id="10" name="Picture 9" descr="do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99616"/>
            <a:ext cx="1115568" cy="1115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1371600"/>
            <a:ext cx="40233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F766E"/>
                </a:solidFill>
              </a:defRPr>
            </a:pPr>
            <a:r>
              <a:t>Docker &amp; Docker Compose v2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¿Por qué se usó?: Garantiza portabilidad y aislamiento en el puerto 5435 sin contaminar el sistema operativo host.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Permite configurar shm_size: 1gb para evitar fallos de Dynamic Shared Memory al agrupar millones de filas.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Persistencia asegurada en el volumen mb_pgdata.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62656"/>
            <a:ext cx="5440680" cy="1536192"/>
          </a:xfrm>
          <a:prstGeom prst="roundRect">
            <a:avLst>
              <a:gd name="adj" fmla="val 4000"/>
            </a:avLst>
          </a:prstGeom>
          <a:solidFill>
            <a:srgbClr val="FEF9C3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/>
          </a:p>
        </p:txBody>
      </p:sp>
      <p:pic>
        <p:nvPicPr>
          <p:cNvPr id="13" name="Picture 12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163824"/>
            <a:ext cx="1115568" cy="1115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28800" y="3035808"/>
            <a:ext cx="40233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45309"/>
                </a:solidFill>
              </a:defRPr>
            </a:pPr>
            <a:r>
              <a:t>Python 3.12+ (Orquestador ETL)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¿Por qué se usó?: Orquestación directa y liviana sin la sobrecarga de memoria de una JVM (Spark/Hadoop).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Permite implementar la clase MaxLineReader con buffer de 128 KB para filtrar 15M de pistas en flujo continuo.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Automatiza la extracción desde mbdump.tar.bz2.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62656"/>
            <a:ext cx="5440680" cy="1536192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/>
          </a:p>
        </p:txBody>
      </p:sp>
      <p:pic>
        <p:nvPicPr>
          <p:cNvPr id="16" name="Picture 15" descr="psycop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3163824"/>
            <a:ext cx="1115568" cy="11155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98079" y="3035808"/>
            <a:ext cx="40233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45309"/>
                </a:solidFill>
              </a:defRPr>
            </a:pPr>
            <a:r>
              <a:t>psycopg2-binary (Driver C libpq)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¿Por qué se usó?: Driver compilado en C que expone el método copy_expert() sobre la API nativa libpq.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Transfiere bloques de datos desde Python hacia el heap de PostgreSQL sin pasar por cursores INSERT fila a fila.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Manejo transaccional de auditoría en meta.etl_audit.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26864"/>
            <a:ext cx="5440680" cy="1536192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90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/>
          </a:p>
        </p:txBody>
      </p:sp>
      <p:pic>
        <p:nvPicPr>
          <p:cNvPr id="19" name="Picture 18" descr="powerb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4828032"/>
            <a:ext cx="1115568" cy="11155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28800" y="4700016"/>
            <a:ext cx="40233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9D174D"/>
                </a:solidFill>
              </a:defRPr>
            </a:pPr>
            <a:r>
              <a:t>Microsoft Power BI Desktop (DAX)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¿Por qué se usó?: Su motor columnar in-memory VertiPaq comprime de forma óptima los modelos en estrella puros.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Aprovecha las relaciones 1:* en español y evalúa todas las métricas mediante funciones SUM() de alta velocidad.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Soporta navegación Drill-Down y correlación Pearson.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626864"/>
            <a:ext cx="5440680" cy="1536192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/>
          </a:p>
        </p:txBody>
      </p:sp>
      <p:pic>
        <p:nvPicPr>
          <p:cNvPr id="22" name="Picture 21" descr="dbea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216" y="4828032"/>
            <a:ext cx="1115568" cy="11155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98079" y="4700016"/>
            <a:ext cx="40233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5B21B6"/>
                </a:solidFill>
              </a:defRPr>
            </a:pPr>
            <a:r>
              <a:t>DBeaver, psql &amp; Git / GitHub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¿Por qué se usó?: DBeaver y psql permiten inspeccionar los planes físicos EXPLAIN ANALYZE y verificar el Partition Pruning.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Git y GitHub aseguran control de versiones bajo Conventional Commits y trazabilidad del código SQL/Python.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</a:defRPr>
            </a:pPr>
            <a:r>
              <a:t>• ReportLab genera la documentación editorial en PDF.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0F766E"/>
                </a:solidFill>
                <a:latin typeface="Segoe UI"/>
              </a:defRPr>
            </a:pPr>
            <a:r>
              <a:t>DIAPOSITIVA 09  ·  MÉTRICAS DE ESCALA Y ALMACENAMIENTO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Volumetría Oficial por Capa y Dimensionamiento en Disco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Consolidado de las 10 tablas de la capa Silver (~98,6 M de filas) y las entidades del Modelo Estrella en Gold (~16 GB)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9 de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5715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051560"/>
                <a:gridCol w="822960"/>
                <a:gridCol w="2057400"/>
              </a:tblGrid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Tabla Capa Silver (3NF)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Filas Reales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Disco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Propósito en el DWH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silver.recording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40.595.893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5.854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Grabación maestra (duración y video)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silver.track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15.000.000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2.865 MB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Pista en soporte (base de agregación)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silver.isrc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6.502.252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798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Código internacional ISRC por grabación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silver.medium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6.426.136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988 MB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Soporte físico/digital y formato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silver.artist_credit_name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7.301.698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741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Vínculo exacto a artist.id (position=0)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silver.release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5.858.206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1.110 MB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Lanzamiento (estado, empaque, idioma)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silver.release_country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13.337.269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1.299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Fecha histórica real (año/mes/día) y país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silver.artist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3.015.712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499 MB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Músicos solistas, bandas y orquestas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silver.release_unknown_country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484.343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36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Fecha histórica real sin país asignado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silver.area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120.108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 MB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Países, regiones y ciudades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TOTAL CAPA SILVER (10 Tablas)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98.641.617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14.206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Staging Relacional Completo 3NF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98448"/>
          <a:ext cx="5257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60120"/>
                <a:gridCol w="777240"/>
                <a:gridCol w="1783080"/>
              </a:tblGrid>
              <a:tr h="35661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Objeto Capa Gold (Español)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Filas / Reg.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Disco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Grano / Rol Dimensional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gold.fact_produccion_musical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2.967.681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570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Hecho diario (consolida 15M pistas)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gold.dim_artista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3.015.713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1.476 MB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Artistas únicos + Key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gold.dim_geografia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120.109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Áreas geográficas y países + Key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gold.dim_fecha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47.847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 MB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Calendario diario 1900–2030 + Key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gold.dim_idioma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1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Idiomas ISO 639-3 + Key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gold.dim_lanzamiento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1 MB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Perfiles (Estado + Empaque + Calidad)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gold.dim_formato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1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Formatos y categoría física/digital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gold.mv_analitica_artistas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690.454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131 MB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Vista Mat. RF01, RF06 y RF08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Otras 3 Vistas Materializadas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4.711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1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Tendencias anuales, formatos y geo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5010912"/>
            <a:ext cx="5257800" cy="1316736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0F766E"/>
                </a:solidFill>
                <a:latin typeface="Segoe UI"/>
              </a:defRPr>
            </a:pPr>
            <a:r>
              <a:t>CUMPLIMIENTO HOLGADO DEL RNF02 Y RNF03</a:t>
            </a:r>
          </a:p>
          <a:p>
            <a:pPr>
              <a:spcAft>
                <a:spcPts val="500"/>
              </a:spcAft>
              <a:defRPr sz="1120" b="1">
                <a:solidFill>
                  <a:srgbClr val="0F766E"/>
                </a:solidFill>
                <a:latin typeface="Segoe UI"/>
              </a:defRPr>
            </a:pPr>
            <a:r>
              <a:t>Huella Total ~16 GB en PostgreSQL 16 (Meta: &gt; 3,0 GB)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Supera más de 5 veces el umbral mínimo de almacenamiento físico exigido.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Al modelar dim_lanzamiento por perfil (313 filas en vez de 5,8M), Power BI opera en memoria con máxima compresión.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5B21B6"/>
                </a:solidFill>
                <a:latin typeface="Segoe UI"/>
              </a:defRPr>
            </a:pPr>
            <a:r>
              <a:t>DIAPOSITIVA 10  ·  MODELADO DIMENSIONAL (RALPH KIMBALL)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Diseño del Modelo en Estrella Puro en Español (Capa Gold)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Tabla de hechos histórica diaria centrada exclusivamente en Claves Foráneas (FKs) y 11 Métricas Numéricas 100% Aditivas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10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325880"/>
            <a:ext cx="4572000" cy="5010912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5B21B6"/>
                </a:solidFill>
                <a:latin typeface="Segoe UI"/>
              </a:defRPr>
            </a:pPr>
            <a:r>
              <a:t>TABLA DE HECHOS HISTÓRICA DIARIA (PARTICIONADA)</a:t>
            </a:r>
          </a:p>
          <a:p>
            <a:pPr>
              <a:spcAft>
                <a:spcPts val="500"/>
              </a:spcAft>
              <a:defRPr sz="1110" b="1">
                <a:solidFill>
                  <a:srgbClr val="5B21B6"/>
                </a:solidFill>
                <a:latin typeface="Segoe UI"/>
              </a:defRPr>
            </a:pPr>
            <a:r>
              <a:t>gold.fact_produccion_musical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🔑 CLAVE PRIMARIA Y FORÁNEAS CONFORMADAS: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• hecho_key (BIGSERIAL) + fecha_key (PK Compuesta)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• fecha_key (INTEGER)  →  gold.dim_fecha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• artista_key (INTEGER)  →  gold.dim_artista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• lanzamiento_key (INTEGER)  →  gold.dim_lanzamiento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• geografia_key (INTEGER)  →  gold.dim_geografia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• formato_key (INTEGER)  →  gold.dim_formato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• idioma_key (INTEGER)  →  gold.dim_idioma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📊 11 MÉTRICAS NUMÉRICAS 100% ADITIVAS (SUM):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1. lanzamientos_total (INTEGER)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2. soportes_total (INTEGER)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3. pistas_total (INTEGER)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4. grabaciones_unicas_total (INTEGER)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5. duracion_total_ms (BIGINT)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6. duracion_total_segundos (NUMERIC(14,2))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7. duracion_total_minutos (NUMERIC(14,2))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8. pistas_con_isrc_total (INTEGER)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9. pistas_largas_total (INTEGER  ·  &gt; 5 min)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10. pistas_video_total (INTEGER)</a:t>
            </a:r>
          </a:p>
          <a:p>
            <a:pPr>
              <a:spcAft>
                <a:spcPts val="350"/>
              </a:spcAft>
              <a:defRPr sz="910">
                <a:solidFill>
                  <a:srgbClr val="1E293B"/>
                </a:solidFill>
                <a:latin typeface="Segoe UI"/>
              </a:defRPr>
            </a:pPr>
            <a:r>
              <a:t>  11. pistas_completas_total (INTEGER  ·  duración &gt;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063240" cy="1572768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1E3A8A"/>
                </a:solidFill>
                <a:latin typeface="Segoe UI"/>
              </a:defRPr>
            </a:pPr>
            <a:r>
              <a:t>DIMENSIÓN 1  ·  1:N (fecha_key)</a:t>
            </a:r>
          </a:p>
          <a:p>
            <a:pPr>
              <a:spcAft>
                <a:spcPts val="500"/>
              </a:spcAft>
              <a:defRPr sz="1120" b="1">
                <a:solidFill>
                  <a:srgbClr val="1E3A8A"/>
                </a:solidFill>
                <a:latin typeface="Segoe UI"/>
              </a:defRPr>
            </a:pPr>
            <a:r>
              <a:t>gold.dim_fecha (47.847 filas)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Grano diario continuo (1900 a 2030).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Jerarquía: siglo → decada → anio → trimestre → mes → 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44952"/>
            <a:ext cx="3063240" cy="1572768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0F766E"/>
                </a:solidFill>
                <a:latin typeface="Segoe UI"/>
              </a:defRPr>
            </a:pPr>
            <a:r>
              <a:t>DIMENSIÓN 2  ·  1:N (artista_key)</a:t>
            </a:r>
          </a:p>
          <a:p>
            <a:pPr>
              <a:spcAft>
                <a:spcPts val="500"/>
              </a:spcAft>
              <a:defRPr sz="1120" b="1">
                <a:solidFill>
                  <a:srgbClr val="0F766E"/>
                </a:solidFill>
                <a:latin typeface="Segoe UI"/>
              </a:defRPr>
            </a:pPr>
            <a:r>
              <a:t>gold.dim_artista (3,02 M filas)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Solistas, bandas, coros y orquestas.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Atributos: nombre_artista, tipo_artista, genero, nombre_pais, anio_inicio.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64024"/>
            <a:ext cx="3063240" cy="1572768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B45309"/>
                </a:solidFill>
                <a:latin typeface="Segoe UI"/>
              </a:defRPr>
            </a:pPr>
            <a:r>
              <a:t>DIMENSIÓN 3  ·  1:N (lanzamiento_key)</a:t>
            </a:r>
          </a:p>
          <a:p>
            <a:pPr>
              <a:spcAft>
                <a:spcPts val="500"/>
              </a:spcAft>
              <a:defRPr sz="1120" b="1">
                <a:solidFill>
                  <a:srgbClr val="B45309"/>
                </a:solidFill>
                <a:latin typeface="Segoe UI"/>
              </a:defRPr>
            </a:pPr>
            <a:r>
              <a:t>gold.dim_lanzamiento (313)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Perfil analítico del lanzamiento.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Combina estado_lanzamiento, tipo_empaque y calidad_datos.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325880"/>
            <a:ext cx="3063240" cy="1572768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90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9D174D"/>
                </a:solidFill>
                <a:latin typeface="Segoe UI"/>
              </a:defRPr>
            </a:pPr>
            <a:r>
              <a:t>DIMENSIÓN 4  ·  1:N (geografia_key)</a:t>
            </a:r>
          </a:p>
          <a:p>
            <a:pPr>
              <a:spcAft>
                <a:spcPts val="500"/>
              </a:spcAft>
              <a:defRPr sz="1120" b="1">
                <a:solidFill>
                  <a:srgbClr val="9D174D"/>
                </a:solidFill>
                <a:latin typeface="Segoe UI"/>
              </a:defRPr>
            </a:pPr>
            <a:r>
              <a:t>gold.dim_geografia (120.109)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Ubicación geográfica normalizada.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Atributos: area_id, nombre_area, tipo_area, nombre_pais.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44952"/>
            <a:ext cx="3063240" cy="1572768"/>
          </a:xfrm>
          <a:prstGeom prst="roundRect">
            <a:avLst>
              <a:gd name="adj" fmla="val 4000"/>
            </a:avLst>
          </a:prstGeom>
          <a:solidFill>
            <a:srgbClr val="FEF9C3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B45309"/>
                </a:solidFill>
                <a:latin typeface="Segoe UI"/>
              </a:defRPr>
            </a:pPr>
            <a:r>
              <a:t>DIMENSIÓN 5  ·  1:N (formato_key)</a:t>
            </a:r>
          </a:p>
          <a:p>
            <a:pPr>
              <a:spcAft>
                <a:spcPts val="500"/>
              </a:spcAft>
              <a:defRPr sz="1120" b="1">
                <a:solidFill>
                  <a:srgbClr val="B45309"/>
                </a:solidFill>
                <a:latin typeface="Segoe UI"/>
              </a:defRPr>
            </a:pPr>
            <a:r>
              <a:t>gold.dim_formato (115 filas)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Soportes físicos, ópticos y digitales.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Atributos: nombre_formato, categoria_formato.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4764024"/>
            <a:ext cx="3063240" cy="1572768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1E3A8A"/>
                </a:solidFill>
                <a:latin typeface="Segoe UI"/>
              </a:defRPr>
            </a:pPr>
            <a:r>
              <a:t>DIMENSIÓN 6  ·  1:N (idioma_key)</a:t>
            </a:r>
          </a:p>
          <a:p>
            <a:pPr>
              <a:spcAft>
                <a:spcPts val="500"/>
              </a:spcAft>
              <a:defRPr sz="1120" b="1">
                <a:solidFill>
                  <a:srgbClr val="1E3A8A"/>
                </a:solidFill>
                <a:latin typeface="Segoe UI"/>
              </a:defRPr>
            </a:pPr>
            <a:r>
              <a:t>gold.dim_idioma (354 filas)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Estándar ISO 639-3 de publicación.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Atributos: idioma_id, nombre_idioma, codigo_iso.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1E3A8A"/>
                </a:solidFill>
                <a:latin typeface="Segoe UI"/>
              </a:defRPr>
            </a:pPr>
            <a:r>
              <a:t>DIAPOSITIVA 11  ·  DICCIONARIO DIMENSIONAL EXACTO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Explicación de las 6 Dimensiones Conformadas y sus Atributos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Visualización exhaustiva de todas las columnas creadas en sql/gold/03_dimensions_facts.sql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11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5440680" cy="1572768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090" b="1">
                <a:solidFill>
                  <a:srgbClr val="1E3A8A"/>
                </a:solidFill>
                <a:latin typeface="Segoe UI"/>
              </a:defRPr>
            </a:pPr>
            <a:r>
              <a:t>1. gold.dim_fecha (47.847 filas)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PK: fecha_key (INTEGER YYYYMMDD, 0 = 'Sin Fecha').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Atributos: fecha_completa (DATE), anio (INT), trimestre (INT), nombre_trimestre ('Q1'..'Q4'), mes (INT), nombre_mes ('Enero'..), nombre_mes_corto ('Ene'..), dia (INT), dia_semana (1..7), nombre_dia ('Lunes'..), es_fin_de_semana (BOOL), decada ('1970s'..), siglo ('Siglo XX' / 'Siglo XXI').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Rol: Eje temporal continuo 1900–2030 alimentado con las fechas reales de release_country.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98448"/>
            <a:ext cx="5440680" cy="1572768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090" b="1">
                <a:solidFill>
                  <a:srgbClr val="0F766E"/>
                </a:solidFill>
                <a:latin typeface="Segoe UI"/>
              </a:defRPr>
            </a:pPr>
            <a:r>
              <a:t>2. gold.dim_artista (3.015.713 filas)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PK: artista_key (SERIAL)  |  BK: artista_id (INTEGER UK).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Atributos: artista_gid (UUID), nombre_artista (TEXT), nombre_orden (TEXT), tipo_artista ('Persona / Solista', 'Grupo / Banda', 'Orquesta', 'Coro'), genero ('Masculino', 'Femenino', 'No Binario'), area_id (INT), nombre_area (TEXT), nombre_pais (TEXT), anio_inicio, anio_fin, finalizado (BOOL), creado_en.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Rol: Autoría musical resuelta vía artist_credit_name (position = 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80944"/>
            <a:ext cx="5440680" cy="1572768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090" b="1">
                <a:solidFill>
                  <a:srgbClr val="5B21B6"/>
                </a:solidFill>
                <a:latin typeface="Segoe UI"/>
              </a:defRPr>
            </a:pPr>
            <a:r>
              <a:t>3. gold.dim_lanzamiento (313 perfiles)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PK: lanzamiento_key (SERIAL)  |  UK: (estado_id, empaque_id, calidad_id).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Atributos: estado_lanzamiento ('Oficial', 'Promocional', 'Bootleg / No Oficial', 'Pseudo-Release'), tipo_empaque ('Jewel Case', 'Digipak', 'Gatefold Cover (Vinilo)', 'Sin Embalaje (Digital)'), calidad_datos ('Alta', 'Normal', 'Baja'), creado_en.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Rol: Agrupa por perfil comercial para que lanzamientos_total sume múltiples álbumes por día.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980944"/>
            <a:ext cx="5440680" cy="1572768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090" b="1">
                <a:solidFill>
                  <a:srgbClr val="B45309"/>
                </a:solidFill>
                <a:latin typeface="Segoe UI"/>
              </a:defRPr>
            </a:pPr>
            <a:r>
              <a:t>4. gold.dim_geografia (120.109 filas)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PK: geografia_key (SERIAL)  |  BK: area_id (INTEGER UK).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Atributos: area_gid (UUID), nombre_area (TEXT), tipo_area ('País', 'Subdivisión', 'Condado', 'Municipio', 'Ciudad', 'Distrito', 'Isla'), nombre_pais (TEXT), creado_en.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Rol: Ubicación del evento de lanzamiento (release_country.country) o procedencia del artista (artist.area), unida por area_id entero.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663440"/>
            <a:ext cx="5440680" cy="1572768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90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090" b="1">
                <a:solidFill>
                  <a:srgbClr val="9D174D"/>
                </a:solidFill>
                <a:latin typeface="Segoe UI"/>
              </a:defRPr>
            </a:pPr>
            <a:r>
              <a:t>5. gold.dim_formato (115 filas)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PK: formato_key (SERIAL)  |  BK: formato_id (INTEGER UK).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Atributos: nombre_formato ('CD', 'Vinilo 12"', 'Digital Media', 'Cassette', 'FLAC', 'MP3', 'Blu-ray'), categoria_formato ('Digital / Streaming', 'Físico / Vinilo', 'Físico / Óptico', 'Físico / Magnético', 'Otros Formatos').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Rol: Permite analizar la evolución tecnológica del soporte físico al streaming.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663440"/>
            <a:ext cx="5440680" cy="1572768"/>
          </a:xfrm>
          <a:prstGeom prst="roundRect">
            <a:avLst>
              <a:gd name="adj" fmla="val 4000"/>
            </a:avLst>
          </a:prstGeom>
          <a:solidFill>
            <a:srgbClr val="FEF9C3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090" b="1">
                <a:solidFill>
                  <a:srgbClr val="B45309"/>
                </a:solidFill>
                <a:latin typeface="Segoe UI"/>
              </a:defRPr>
            </a:pPr>
            <a:r>
              <a:t>6. gold.dim_idioma (354 filas)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PK: idioma_key (SERIAL)  |  BK: idioma_id (INTEGER UK).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Atributos: nombre_idioma (nombre oficial del catálogo silver.language: 'English', 'Spanish', 'Japanese', 'German', 'French', '[No linguistic content]', '[Multiple languages]'; clave 0 = 'Idioma No Especificado'), codigo_iso ISO 639-3 ('eng', 'spa', 'jpn', 'zxx', 'mul', 'und').</a:t>
            </a:r>
          </a:p>
          <a:p>
            <a:pPr>
              <a:spcAft>
                <a:spcPts val="350"/>
              </a:spcAft>
              <a:defRPr sz="890">
                <a:solidFill>
                  <a:srgbClr val="1E293B"/>
                </a:solidFill>
                <a:latin typeface="Segoe UI"/>
              </a:defRPr>
            </a:pPr>
            <a:r>
              <a:t>• Rol: Clasificación lingüística ISO 639-3, resuelta con JOIN al catálogo oficial silver.language (7.846 idiomas).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0F766E"/>
                </a:solidFill>
                <a:latin typeface="Segoe UI"/>
              </a:defRPr>
            </a:pPr>
            <a:r>
              <a:t>DIAPOSITIVA 12  ·  INTEGRIDAD REFERENCIAL EN EL MODELO ESTRELLA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Patrón de Fila Cero (Key 0) y Garantía de Cero Huérfanos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Cómo se preservan el 100% de los hechos históricos cuando un atributo dimensional es nulo en el origen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12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120640" cy="498348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0F766E"/>
                </a:solidFill>
                <a:latin typeface="Segoe UI"/>
              </a:defRPr>
            </a:pPr>
            <a:r>
              <a:t>FUNDAMENTO ARQUITECTÓNICO DE RALPH KIMBALL</a:t>
            </a:r>
          </a:p>
          <a:p>
            <a:pPr>
              <a:spcAft>
                <a:spcPts val="500"/>
              </a:spcAft>
              <a:defRPr sz="1200" b="1">
                <a:solidFill>
                  <a:srgbClr val="0F766E"/>
                </a:solidFill>
                <a:latin typeface="Segoe UI"/>
              </a:defRPr>
            </a:pPr>
            <a:r>
              <a:t>¿Por qué usar la Clave Subrogada 0?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En bases relacionales OLTP, muchas grabaciones o lanzamientos carecen de idioma asignado, formato específico o fecha completa.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Si usáramos INNER JOIN sin fila por defecto, descartaríamos millones de pistas reales, alterando los totales históricos de producción.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Si dejáramos NULL en las claves foráneas de la tabla de hechos, violaríamos la integridad referencial y romperíamos los filtros en Power BI.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Solución implementada: cada script populate_dim_*.sql inserta explícitamente un registro con Surrogate Key = 0.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En populate_fact_tracks.sql se aplica COALESCE(dim_key, 0) en las 6 dimensiones conformadas.</a:t>
            </a:r>
          </a:p>
          <a:p>
            <a:pPr>
              <a:spcAft>
                <a:spcPts val="35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Resultado certificado en meta.data_quality_log: 0 violaciones de integridad referencial en las 6 dimensiones.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52160" y="1325880"/>
          <a:ext cx="58064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51560"/>
                <a:gridCol w="1783080"/>
                <a:gridCol w="1600200"/>
              </a:tblGrid>
              <a:tr h="71192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Dimensión Gold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Clave PK = 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Etiqueta Descriptiva Asignada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Validación en meta.data_quality_log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gold.dim_fecha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fecha_key 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'Sin Fecha' / 'Sin Década' / 'Sin Siglo'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INTEGRIDAD_FK_DIM_FECHA: 0 huérfanos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gold.dim_artista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artista_key =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'Artista Desconocido' / 'Sin País Registrado'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INTEGRIDAD_FK_DIM_ARTISTA: 0 huérfanos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gold.dim_lanzamiento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lanzamiento_key 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'No Clasificado' / 'Estándar / Desconocido'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INTEGRIDAD_FK_DIM_LANZAMIENTO: 0 huérfanos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gold.dim_geografia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geografia_key =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'Sin Área Registrada' / 'Sin País Registrado'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INTEGRIDAD_FK_DIM_GEOGRAFIA: 0 huérfanos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gold.dim_formato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formato_key 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'Formato No Especificado' / 'Desconocido'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INTEGRIDAD_FK_DIM_FORMATO: 0 huérfanos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gold.dim_idioma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idioma_key =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'Idioma No Especificado' (codigo_iso = 'und')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INTEGRIDAD_FK_DIM_IDIOMA: 0 huérfanos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B45309"/>
                </a:solidFill>
                <a:latin typeface="Segoe UI"/>
              </a:defRPr>
            </a:pPr>
            <a:r>
              <a:t>DIAPOSITIVA 13  ·  INGENIERÍA DE DATOS Y PROCESAMIENTO MASIVO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Flujo E2E del Pipeline ETL (Extracción, Streaming y Agregación)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Secuencia automatizada desde el archivo comprimido mbdump.tar.bz2 hasta la tabla de hechos y vistas materializadas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13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70048" cy="49834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1E3A8A"/>
                </a:solidFill>
                <a:latin typeface="Segoe UI"/>
              </a:defRPr>
            </a:pPr>
            <a:r>
              <a:t>scripts/setup_database.py</a:t>
            </a:r>
          </a:p>
          <a:p>
            <a:pPr>
              <a:spcAft>
                <a:spcPts val="5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ETAPA 1 · Inicialización DDL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Conecta a PostgreSQL 16 (puerto 5435).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Ejecuta en orden los 6 archivos DDL: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  1. 01_schema_meta.sql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  2. 02_create_silver_tables.sql (11 tablas)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  3. 03_dimensions_facts.sql (Estrella Español)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  4. 04_indexes_partitions.sql (15 particiones)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  5. 05/06: vistas mat. y distribución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25880"/>
            <a:ext cx="2670048" cy="498348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0F766E"/>
                </a:solidFill>
                <a:latin typeface="Segoe UI"/>
              </a:defRPr>
            </a:pPr>
            <a:r>
              <a:t>etl/silver/ingest_silver.py</a:t>
            </a:r>
          </a:p>
          <a:p>
            <a:pPr>
              <a:spcAft>
                <a:spcPts val="500"/>
              </a:spcAft>
              <a:defRPr sz="1150" b="1">
                <a:solidFill>
                  <a:srgbClr val="0F766E"/>
                </a:solidFill>
                <a:latin typeface="Segoe UI"/>
              </a:defRPr>
            </a:pPr>
            <a:r>
              <a:t>ETAPA 2 · Ingesta Silver Masiva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Verifica cada archivo en data/raw/mbdump/.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Si falta alguno, lo extrae bajo demanda desde mbdump.tar.bz2 usando tar.exe.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Ejecuta TRUNCATE RESTART IDENTITY y carga vía COPY FROM STDIN con utf-8-sig.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Audita lotes y velocidades en meta.etl_audit.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2670048" cy="498348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B45309"/>
                </a:solidFill>
                <a:latin typeface="Segoe UI"/>
              </a:defRPr>
            </a:pPr>
            <a:r>
              <a:t>etl/silver/ingest_tracks_sliced.py</a:t>
            </a:r>
          </a:p>
          <a:p>
            <a:pPr>
              <a:spcAft>
                <a:spcPts val="500"/>
              </a:spcAft>
              <a:defRPr sz="1150" b="1">
                <a:solidFill>
                  <a:srgbClr val="B45309"/>
                </a:solidFill>
                <a:latin typeface="Segoe UI"/>
              </a:defRPr>
            </a:pPr>
            <a:r>
              <a:t>ETAPA 3 · Streaming de Pistas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Procesa el archivo masivo track mediante la clase MaxLineReader (buffer circular de 128 KB).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Acota de forma determinista exactamente 15.000.000 de pistas reales hacia silver.track.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Mantiene el consumo de RAM de Python por debajo de 50 MB.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325880"/>
            <a:ext cx="2670048" cy="49834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5B21B6"/>
                </a:solidFill>
                <a:latin typeface="Segoe UI"/>
              </a:defRPr>
            </a:pPr>
            <a:r>
              <a:t>etl/gold/run_gold_pipeline.py</a:t>
            </a:r>
          </a:p>
          <a:p>
            <a:pPr>
              <a:spcAft>
                <a:spcPts val="500"/>
              </a:spcAft>
              <a:defRPr sz="1150" b="1">
                <a:solidFill>
                  <a:srgbClr val="5B21B6"/>
                </a:solidFill>
                <a:latin typeface="Segoe UI"/>
              </a:defRPr>
            </a:pPr>
            <a:r>
              <a:t>ETAPA 4 · Agregación Gold &amp; DQ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Puebla las 7 dimensiones (populate_dim_*.sql).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populate_fact_tracks.sql agrega por día 11 métricas aditivas; cada lanzamiento cuenta una sola vez.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Puebla el hecho de distribución, refresca las MVs y concilia contra Silver.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9D174D"/>
                </a:solidFill>
                <a:latin typeface="Segoe UI"/>
              </a:defRPr>
            </a:pPr>
            <a:r>
              <a:t>DIAPOSITIVA 14  ·  SANEAMIENTO Y CALIDAD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Catálogo Completo de Reglas EDA Implementadas (E01 — E10)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Transformaciones deterministas aplicadas entre Silver y Gold (documentadas en docs/reglas_eda.md)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14 de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11155680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48840"/>
                <a:gridCol w="4206240"/>
                <a:gridCol w="4206240"/>
              </a:tblGrid>
              <a:tr h="45886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Regla de Calidad EDA</a:t>
                      </a:r>
                    </a:p>
                  </a:txBody>
                  <a:tcPr anchor="ctr"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Acción Técnica Implementada en SQL / Python</a:t>
                      </a:r>
                    </a:p>
                  </a:txBody>
                  <a:tcPr anchor="ctr"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Justificación Arquitectónica en el DWH</a:t>
                      </a:r>
                    </a:p>
                  </a:txBody>
                  <a:tcPr anchor="ctr">
                    <a:solidFill>
                      <a:srgbClr val="FCE7F3"/>
                    </a:solidFill>
                  </a:tcPr>
                </a:tc>
              </a:tr>
              <a:tr h="45886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Duraciones nulas o en cero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GREATEST(COALESCE(NULLIF(t.length,0), NULLIF(rec.length,0), 0), 0).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Rescata la duración del recording master y suma en pistas_completas_total.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86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Fechas históricas reales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Prioridad: release_country → release_unknown_country → 0 (Sin Fecha). No se imputa con el año del artista.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Garantiza que dim_fecha refleje el año/mes/día real de publicación (1900–2030).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886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Resolución de artist_credit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LEFT JOIN silver.artist_credit_name con filtro position = 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Vincula el lanzamiento y la pista con el artist.id principal real.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86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Deduplicación de ISRC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Subconsulta SELECT DISTINCT recording FROM silver.isrc.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Evita multiplicar filas por múltiples códigos ISRC y suma en pistas_con_isrc_total.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886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Cero booleanos en Hechos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Conversión de flags a SUM(CASE WHEN ... THEN 1 ELSE 0 END).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Reemplaza booleanos por métricas enteras aditivas (pistas_largas_total, video).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86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Cadenas &gt; 1.000 caracteres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Uso nativo de tipo TEXT con compresión TOAST en Silver y Gold.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Evita errores de truncamiento en títulos de obras clásicas o experimentales.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886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Claves foráneas huérfanas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Imputación al registro surrogate 0 mediante COALESCE(dim_key, 0).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Garantiza Cero Huérfanos en las 6 dimensiones sin descartar hechos.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86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Saneamiento UTF-8 BOM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Decodificación con encoding='utf-8-sig' y errors='replace'.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Elimina caracteres Byte Order Mark (\ufeff) en entornos Windows.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886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JOIN geográfico por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Unión exacta por clave entera area_id hacia gold.dim_geografia.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Elimina el Fan Trap causado por ciudades o regiones con nombres homónimos.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868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Auditoría automatizada DQ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Ejecución de 10 reglas críticas al cierre de run_gold_pipeline.py.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Persiste evidencia auditable de 0 violaciones en meta.data_quality_log.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B45309"/>
                </a:solidFill>
                <a:latin typeface="Segoe UI"/>
              </a:defRPr>
            </a:pPr>
            <a:r>
              <a:t>DIAPOSITIVA 15  ·  OPTIMIZACIÓN FÍSICA Y EXPLOTACIÓN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Particionamiento por Rango, Vistas Materializadas y Power BI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Diseño de alto rendimiento en sql/gold/04_indexes_partitions.sql, 05_aggregations.sql y medidas DAX aditivas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15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566160" cy="49834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1E3A8A"/>
                </a:solidFill>
                <a:latin typeface="Segoe UI"/>
              </a:defRPr>
            </a:pPr>
            <a:r>
              <a:t>1 · PARTICIONAMIENTO DECLARATIVO</a:t>
            </a:r>
          </a:p>
          <a:p>
            <a:pPr>
              <a:spcAft>
                <a:spcPts val="5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15 Particiones por fecha_key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gold.fact_produccion_musical está particionada por RANGE (fecha_key):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  - fact_produccion_unknown (0)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  - fact_produccion_pre_1970 (1900–1969)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  - Décadas: 1970s, 1980s, 1990s, 2000s, 2010s.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  - Anuales: 2020, 2021, 2022, 2023, 2024, 2025.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  - fact_produccion_2026_plus y default.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Partition Pruning: descarta más del 85% del I/O al filtrar por década o año.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566160" cy="49834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5B21B6"/>
                </a:solidFill>
                <a:latin typeface="Segoe UI"/>
              </a:defRPr>
            </a:pPr>
            <a:r>
              <a:t>2 · VISTAS MATERIALIZADAS EN ESPAÑOL</a:t>
            </a:r>
          </a:p>
          <a:p>
            <a:pPr>
              <a:spcAft>
                <a:spcPts val="500"/>
              </a:spcAft>
              <a:defRPr sz="1150" b="1">
                <a:solidFill>
                  <a:srgbClr val="5B21B6"/>
                </a:solidFill>
                <a:latin typeface="Segoe UI"/>
              </a:defRPr>
            </a:pPr>
            <a:r>
              <a:t>4 Agregaciones Pre-Calculadas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gold.mv_tendencias_produccion_anual (RF01, RF05): evolución por anio, decada y siglo.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gold.mv_analitica_artistas (RF01, RF06, RF08): catálogo acumulado por artista, tipo y país.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gold.mv_evolucion_formatos (RF02, RF04): matriz temporal por formato y categoría.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gold.mv_distribucion_geografica (RF03, RF06): producción por país y tipo de área.</a:t>
            </a:r>
          </a:p>
          <a:p>
            <a:pPr>
              <a:spcAft>
                <a:spcPts val="35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Cada vista posee índices únicos B-Tree.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325880"/>
            <a:ext cx="3566160" cy="498348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200"/>
              </a:spcAft>
              <a:defRPr sz="900" b="1">
                <a:solidFill>
                  <a:srgbClr val="B45309"/>
                </a:solidFill>
                <a:latin typeface="Segoe UI"/>
              </a:defRPr>
            </a:pPr>
            <a:r>
              <a:t>3 · EXPLOTACIÓN EN POWER BI (DAX)</a:t>
            </a:r>
          </a:p>
          <a:p>
            <a:pPr>
              <a:spcAft>
                <a:spcPts val="500"/>
              </a:spcAft>
              <a:defRPr sz="1120" b="1">
                <a:solidFill>
                  <a:srgbClr val="B45309"/>
                </a:solidFill>
                <a:latin typeface="Segoe UI"/>
              </a:defRPr>
            </a:pPr>
            <a:r>
              <a:t>Medidas 100% Aditivas (SUM)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Total Lanzamientos =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  SUM(fact_produccion_musical[lanzamientos_total])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Total Pistas =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  SUM(fact_produccion_musical[pistas_total])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Duración Promedio (Seg) =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  DIVIDE(SUM([duracion_total_segundos]), SUM([pistas_completas_total]), 0)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Cobertura ISRC % =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  DIVIDE(SUM([pistas_con_isrc_total]), [Total Pistas], 0)</a:t>
            </a:r>
          </a:p>
          <a:p>
            <a:pPr>
              <a:spcAft>
                <a:spcPts val="350"/>
              </a:spcAft>
              <a:defRPr sz="919">
                <a:solidFill>
                  <a:srgbClr val="1E293B"/>
                </a:solidFill>
                <a:latin typeface="Segoe UI"/>
              </a:defRPr>
            </a:pPr>
            <a:r>
              <a:t>• Evidencia la transición Vinilo → CD → Digital (el digital supera al CD en 2012) y una duración que crece a largo plazo (r = 0,89) y se acorta desde 2013 (r = -0,57).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29184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/>
          <a:lstStyle/>
          <a:p>
            <a:pPr algn="ctr">
              <a:defRPr sz="950" b="1">
                <a:solidFill>
                  <a:srgbClr val="0F766E"/>
                </a:solidFill>
                <a:latin typeface="Segoe UI"/>
              </a:defRPr>
            </a:pPr>
            <a:r>
              <a:t>DIAPOSITIVA 16  ·  SÍNTESIS FINAL Y CIERRE DE SUSTENTACIÓN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Conclusiones Técnicas, Arquitectónicas y de Negocio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Logros consolidados tras el rediseño del Modelo en Estrella Puro en Español bajo los lineamientos de Ralph Kimball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DWMusicBrainz  |  Ingeniería de Sistemas  ·  Bases de Datos Avanzadas  ·  Universidad Popular del Cesar  |  Pág. 16 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440680" cy="2304288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5B21B6"/>
                </a:solidFill>
                <a:latin typeface="Segoe UI"/>
              </a:defRPr>
            </a:pPr>
            <a:r>
              <a:t>1 · Rigor en el Modelo en Estrella (Kimball)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Se replanteó la tabla de hechos (gold.fact_produccion_musical) como un verdadero almacenamiento histórico diario.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Al eliminar todos los textos y booleanos de la tabla de hechos y dejar únicamente las 6 FKs conformadas más 11 métricas numéricas aditivas, todas las consultas analíticas operan mediante funciones SUM() puras.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El modelado de dim_lanzamiento por perfil conformado permitió consolidar múltiples lanzamientos diarios en lanzamientos_total.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440680" cy="2304288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1E3A8A"/>
                </a:solidFill>
                <a:latin typeface="Segoe UI"/>
              </a:defRPr>
            </a:pPr>
            <a:r>
              <a:t>2 · Fidelidad Histórica con Datos 100% Reales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La incorporación de silver.release_country, silver.release_unknown_country y silver.artist_credit_name desde el dump oficial mbdump.tar.bz2 (Schema Sequence 31) dotó al Data Warehouse de fechas de publicación y autorías 100% verídicas.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Se procesaron ~98,6 millones de registros en Silver y se alcanzaron 16 GB en disco, cumpliendo con creces los requisitos no funcionales de estrés.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813048"/>
            <a:ext cx="5440680" cy="2304288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0F766E"/>
                </a:solidFill>
                <a:latin typeface="Segoe UI"/>
              </a:defRPr>
            </a:pPr>
            <a:r>
              <a:t>3 · Calidad de Datos y Cero Huérfanos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La aplicación sistemática del catálogo de reglas EDA (E01 a E10), el cruce geográfico por clave entera (area_id) y el patrón de Fila Cero (Key 0) garantizaron 0 registros huérfanos y la erradicación de Fan Traps.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La auditoría automatizada en meta.etl_audit y meta.data_quality_log asegura trazabilidad. Una auditoría posterior detectó y corrigió conteos no aditivos, fechas imputadas con el año del artista y un mapeo de idiomas erróneo.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13048"/>
            <a:ext cx="5440680" cy="2304288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28016" bIns="109728"/>
          <a:lstStyle/>
          <a:p>
            <a:pPr algn="ctr">
              <a:spcAft>
                <a:spcPts val="500"/>
              </a:spcAft>
              <a:defRPr sz="1180" b="1">
                <a:solidFill>
                  <a:srgbClr val="B45309"/>
                </a:solidFill>
                <a:latin typeface="Segoe UI"/>
              </a:defRPr>
            </a:pPr>
            <a:r>
              <a:t>4 · Valor Analítico para la Industria Musical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La combinación de particionamiento declarativo por rango en fecha_key (15 particiones) y 4 vistas materializadas permite responder en milisegundos a los requerimientos RF01–RF08.</a:t>
            </a:r>
          </a:p>
          <a:p>
            <a:pPr>
              <a:spcAft>
                <a:spcPts val="350"/>
              </a:spcAft>
              <a:defRPr sz="980">
                <a:solidFill>
                  <a:srgbClr val="1E293B"/>
                </a:solidFill>
                <a:latin typeface="Segoe UI"/>
              </a:defRPr>
            </a:pPr>
            <a:r>
              <a:t>• En Power BI (3 páginas, 26 medidas DAX) se evidencian la sustitución de formatos físicos por digitales (cruce en 2012), una duración que crece a largo plazo y se acorta levemente desde 2013, y las brechas regionales de formalización ISRC.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